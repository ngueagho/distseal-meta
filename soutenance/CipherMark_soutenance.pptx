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Tatoueur pixel</c:v>
                </c:pt>
              </c:strCache>
            </c:strRef>
          </c:tx>
          <c:spPr>
            <a:solidFill>
              <a:srgbClr val="B8B2A6"/>
            </a:solidFill>
          </c:spPr>
          <c:cat>
            <c:strRef>
              <c:f>Sheet1!$A$2:$A$5</c:f>
              <c:strCache>
                <c:ptCount val="4"/>
                <c:pt idx="0">
                  <c:v>Flou k=7</c:v>
                </c:pt>
                <c:pt idx="1">
                  <c:v>Reech. 0,5</c:v>
                </c:pt>
                <c:pt idx="2">
                  <c:v>Bruit σ=0,1</c:v>
                </c:pt>
                <c:pt idx="3">
                  <c:v>JPEG Q=30</c:v>
                </c:pt>
              </c:strCache>
            </c:strRef>
          </c:cat>
          <c:val>
            <c:numRef>
              <c:f>Sheet1!$B$2:$B$5</c:f>
              <c:numCache>
                <c:formatCode>General</c:formatCode>
                <c:ptCount val="4"/>
                <c:pt idx="0">
                  <c:v>0.7066</c:v>
                </c:pt>
                <c:pt idx="1">
                  <c:v>0.8808</c:v>
                </c:pt>
                <c:pt idx="2">
                  <c:v>0.8664</c:v>
                </c:pt>
                <c:pt idx="3">
                  <c:v>0.958</c:v>
                </c:pt>
              </c:numCache>
            </c:numRef>
          </c:val>
        </c:ser>
        <c:ser>
          <c:idx val="1"/>
          <c:order val="1"/>
          <c:tx>
            <c:strRef>
              <c:f>Sheet1!$C$1</c:f>
              <c:strCache>
                <c:ptCount val="1"/>
                <c:pt idx="0">
                  <c:v>Decodeur conditionne</c:v>
                </c:pt>
              </c:strCache>
            </c:strRef>
          </c:tx>
          <c:spPr>
            <a:solidFill>
              <a:srgbClr val="C46A2E"/>
            </a:solidFill>
          </c:spPr>
          <c:cat>
            <c:strRef>
              <c:f>Sheet1!$A$2:$A$5</c:f>
              <c:strCache>
                <c:ptCount val="4"/>
                <c:pt idx="0">
                  <c:v>Flou k=7</c:v>
                </c:pt>
                <c:pt idx="1">
                  <c:v>Reech. 0,5</c:v>
                </c:pt>
                <c:pt idx="2">
                  <c:v>Bruit σ=0,1</c:v>
                </c:pt>
                <c:pt idx="3">
                  <c:v>JPEG Q=30</c:v>
                </c:pt>
              </c:strCache>
            </c:strRef>
          </c:cat>
          <c:val>
            <c:numRef>
              <c:f>Sheet1!$C$2:$C$5</c:f>
              <c:numCache>
                <c:formatCode>General</c:formatCode>
                <c:ptCount val="4"/>
                <c:pt idx="0">
                  <c:v>0.9928</c:v>
                </c:pt>
                <c:pt idx="1">
                  <c:v>0.9992</c:v>
                </c:pt>
                <c:pt idx="2">
                  <c:v>0.9996</c:v>
                </c:pt>
                <c:pt idx="3">
                  <c:v>0.9998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50">
                <a:latin typeface="Arial"/>
              </a:defRPr>
            </a:pPr>
          </a:p>
        </c:txPr>
        <c:crossAx val="-2113994440"/>
        <c:crosses val="autoZero"/>
        <c:auto val="1"/>
        <c:lblAlgn val="ctr"/>
        <c:lblOffset val="100"/>
        <c:noMultiLvlLbl val="0"/>
      </c:catAx>
      <c:valAx>
        <c:axId val="-2113994440"/>
        <c:scaling>
          <c:max val="1.0"/>
        </c:scaling>
        <c:delete val="0"/>
        <c:axPos val="l"/>
        <c:majorGridlines/>
        <c:numFmt formatCode="0%" sourceLinked="0"/>
        <c:majorTickMark val="out"/>
        <c:minorTickMark val="none"/>
        <c:tickLblPos val="nextTo"/>
        <c:txPr>
          <a:bodyPr/>
          <a:lstStyle/>
          <a:p>
            <a:pPr>
              <a:defRPr sz="1200">
                <a:latin typeface="Arial"/>
              </a:defRPr>
            </a:pPr>
          </a:p>
        </c:txPr>
        <c:crossAx val="-2068027336"/>
        <c:crosses val="autoZero"/>
      </c:valAx>
    </c:plotArea>
    <c:legend>
      <c:legendPos val="b"/>
      <c:overlay val="0"/>
      <c:txPr>
        <a:bodyPr/>
        <a:lstStyle/>
        <a:p>
          <a:pPr>
            <a:defRPr sz="1300">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Diffusion  (DC-AE, 6 etages)</c:v>
                </c:pt>
              </c:strCache>
            </c:strRef>
          </c:tx>
          <c:spPr>
            <a:solidFill>
              <a:srgbClr val="2E6F8E"/>
            </a:solidFill>
          </c:spPr>
          <c:cat>
            <c:strRef>
              <c:f>Sheet1!$A$2:$A$6</c:f>
              <c:strCache>
                <c:ptCount val="5"/>
                <c:pt idx="0">
                  <c:v>Sans attaque</c:v>
                </c:pt>
                <c:pt idx="1">
                  <c:v>JPEG Q=90</c:v>
                </c:pt>
                <c:pt idx="2">
                  <c:v>JPEG Q=30</c:v>
                </c:pt>
                <c:pt idx="3">
                  <c:v>Flou k=5</c:v>
                </c:pt>
                <c:pt idx="4">
                  <c:v>Reech. 0,5</c:v>
                </c:pt>
              </c:strCache>
            </c:strRef>
          </c:cat>
          <c:val>
            <c:numRef>
              <c:f>Sheet1!$B$2:$B$6</c:f>
              <c:numCache>
                <c:formatCode>General</c:formatCode>
                <c:ptCount val="5"/>
                <c:pt idx="0">
                  <c:v>1.0</c:v>
                </c:pt>
                <c:pt idx="1">
                  <c:v>1.0</c:v>
                </c:pt>
                <c:pt idx="2">
                  <c:v>0.9998</c:v>
                </c:pt>
                <c:pt idx="3">
                  <c:v>0.9998</c:v>
                </c:pt>
                <c:pt idx="4">
                  <c:v>0.9992</c:v>
                </c:pt>
              </c:numCache>
            </c:numRef>
          </c:val>
        </c:ser>
        <c:ser>
          <c:idx val="1"/>
          <c:order val="1"/>
          <c:tx>
            <c:strRef>
              <c:f>Sheet1!$C$1</c:f>
              <c:strCache>
                <c:ptCount val="1"/>
                <c:pt idx="0">
                  <c:v>Autoregressif  (MaskGIT, 3 etages)</c:v>
                </c:pt>
              </c:strCache>
            </c:strRef>
          </c:tx>
          <c:spPr>
            <a:solidFill>
              <a:srgbClr val="C98B5E"/>
            </a:solidFill>
          </c:spPr>
          <c:cat>
            <c:strRef>
              <c:f>Sheet1!$A$2:$A$6</c:f>
              <c:strCache>
                <c:ptCount val="5"/>
                <c:pt idx="0">
                  <c:v>Sans attaque</c:v>
                </c:pt>
                <c:pt idx="1">
                  <c:v>JPEG Q=90</c:v>
                </c:pt>
                <c:pt idx="2">
                  <c:v>JPEG Q=30</c:v>
                </c:pt>
                <c:pt idx="3">
                  <c:v>Flou k=5</c:v>
                </c:pt>
                <c:pt idx="4">
                  <c:v>Reech. 0,5</c:v>
                </c:pt>
              </c:strCache>
            </c:strRef>
          </c:cat>
          <c:val>
            <c:numRef>
              <c:f>Sheet1!$C$2:$C$6</c:f>
              <c:numCache>
                <c:formatCode>General</c:formatCode>
                <c:ptCount val="5"/>
                <c:pt idx="0">
                  <c:v>0.96</c:v>
                </c:pt>
                <c:pt idx="1">
                  <c:v>0.725</c:v>
                </c:pt>
                <c:pt idx="2">
                  <c:v>0.2118</c:v>
                </c:pt>
                <c:pt idx="3">
                  <c:v>0.0012</c:v>
                </c:pt>
                <c:pt idx="4">
                  <c:v>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latin typeface="Arial"/>
              </a:defRPr>
            </a:pPr>
          </a:p>
        </c:txPr>
        <c:crossAx val="-2113994440"/>
        <c:crosses val="autoZero"/>
        <c:auto val="1"/>
        <c:lblAlgn val="ctr"/>
        <c:lblOffset val="100"/>
        <c:noMultiLvlLbl val="0"/>
      </c:catAx>
      <c:valAx>
        <c:axId val="-2113994440"/>
        <c:scaling>
          <c:max val="1.0"/>
        </c:scaling>
        <c:delete val="0"/>
        <c:axPos val="l"/>
        <c:majorGridlines/>
        <c:numFmt formatCode="0%" sourceLinked="0"/>
        <c:majorTickMark val="out"/>
        <c:minorTickMark val="none"/>
        <c:tickLblPos val="nextTo"/>
        <c:txPr>
          <a:bodyPr/>
          <a:lstStyle/>
          <a:p>
            <a:pPr>
              <a:defRPr sz="1200">
                <a:latin typeface="Arial"/>
              </a:defRPr>
            </a:pPr>
          </a:p>
        </c:txPr>
        <c:crossAx val="-2068027336"/>
        <c:crosses val="autoZero"/>
      </c:valAx>
    </c:plotArea>
    <c:legend>
      <c:legendPos val="b"/>
      <c:overlay val="0"/>
      <c:txPr>
        <a:bodyPr/>
        <a:lstStyle/>
        <a:p>
          <a:pPr>
            <a:defRPr sz="13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presente CipherMark, un tatouage pour modeles generatifs qui ajoute une garantie cryptographique la ou l'etat de l'art n'en offre pas. Vingt minutes : le probleme, la proposition, les mesures,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 depart : on ne distingue plus une image generee d'une photo. L'AI Act impose donc de marquer. Mais detecter ne suffit pas : il faut PROUVER l'origine sans jamais accuser a tort. Sur dix-sept travaux recents, aucun ne tient les trois proprietes ensemble.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DistSeal couvre les deux familles mais grave un message FIXE : toutes ses generations portent le meme filigrane, donc rejouable. MetaSeal apporte la cryptographie mais reste sur la diffusion. Le manque est a l'intersection.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 la question. Insister sur le 'a la fois' : chaque propriete prise isolement existe deja ; c'est leur conjonction qui manque.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de la contribution. HMAC lie le temoin au contenu par une empreinte DINOv2. Le PRG le rend unique et illisible. La cle par createur est DERIVEE, donc l'attribution ne se declare pas, elle se prouve. Ce que DistSeal grave une fois, on le recalcule a chaque image.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couches. Insister sur la derniere : le verifieur ne connait rien a l'avance. Il lit le nonce, consulte le registre, REDERIVE la cle. Aucun secret par utilisateur n'est stocke nulle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mecanisme vient de WOUAF. Deux differences : identite exacte a l'initialisation, et modulation BORNEE la ou WOUAF demodule. Le chiffre a retenir est 6 contre 3 : il explique tout l'ecart de la diapositive 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rigueur : memes parametres, meme echelle, memes vingt conditions pour les trois canaux. Parametres FIXES, donc reproductibles. Et deux controles negatifs a chaque mesure.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canal pixel. Tout tient sauf le recadrage. Dire clairement pourquoi : Omega est un message GLOBAL de 64 bits, pas un motif repete. La limite est structurelle, elle etait annoncee.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resultat de la campagne, et il n'etait pas attendu. Le tatouage inscrit dans les POIDS resiste mieux que celui applique apres coup. Laisser le graphique parler deux secondes avant de commenter.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Meme mecanisme, deux architectures, resultats sans commune mesure. La cause est mesuree, pas conjecturee : 3 etages modulables contre 6, dont un sur la sortie RGB ou moduler revient a teinter. C'est le cout de l'agnosticisme.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la cryptographie apporte concretement. Le controle negatif est le point cle : sans conditionnement, le meme latent donne 31/64, le hasard. Le temoin vient donc bien de la modulation.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echange assume. On depasse DistSeal en compression, on cede totalement sur la geometrie, et on gagne quatre proprietes qu'il n'a pas. Ne pas presenter cela comme une victoire nette.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annoncer soi-meme plutot que se les faire opposer. La deuxieme est celle que le jury peut ne pas voir : la liaison au contenu est PLUS fragile que le temoin. Je l'ai decouverte en passant a 5000 images.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premiere perspective est la plus concrete : l'obstacle est diagnostique et le correctif mesure, il manque la convergence. La deuxieme est un vrai sujet de these.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Resumer en trois mots : Omega comble un vide, la chaine fonctionne, et le mur de capacite etait un artefact d'optimisation. Finir sur la phrase du bandeau.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Le code et tous les resultats sont publics.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F33"/>
        </a:solidFill>
        <a:effectLst/>
      </p:bgPr>
    </p:bg>
    <p:spTree>
      <p:nvGrpSpPr>
        <p:cNvPr id="1" name=""/>
        <p:cNvGrpSpPr/>
        <p:nvPr/>
      </p:nvGrpSpPr>
      <p:grpSpPr/>
      <p:sp>
        <p:nvSpPr>
          <p:cNvPr id="2" name="TextBox 1"/>
          <p:cNvSpPr txBox="1"/>
          <p:nvPr/>
        </p:nvSpPr>
        <p:spPr>
          <a:xfrm>
            <a:off x="1005840" y="868680"/>
            <a:ext cx="10241280" cy="365760"/>
          </a:xfrm>
          <a:prstGeom prst="rect">
            <a:avLst/>
          </a:prstGeom>
          <a:noFill/>
        </p:spPr>
        <p:txBody>
          <a:bodyPr wrap="square" lIns="0" rIns="0" tIns="0" bIns="0">
            <a:spAutoFit/>
          </a:bodyPr>
          <a:lstStyle/>
          <a:p>
            <a:pPr algn="l">
              <a:lnSpc>
                <a:spcPct val="115000"/>
              </a:lnSpc>
            </a:pPr>
            <a:r>
              <a:rPr sz="1400" b="1">
                <a:solidFill>
                  <a:srgbClr val="C9A27A"/>
                </a:solidFill>
                <a:latin typeface="Arial"/>
              </a:rPr>
              <a:t>CIPHERMARK</a:t>
            </a:r>
          </a:p>
        </p:txBody>
      </p:sp>
      <p:sp>
        <p:nvSpPr>
          <p:cNvPr id="3" name="TextBox 2"/>
          <p:cNvSpPr txBox="1"/>
          <p:nvPr/>
        </p:nvSpPr>
        <p:spPr>
          <a:xfrm>
            <a:off x="1005840" y="1325880"/>
            <a:ext cx="10241280" cy="1554480"/>
          </a:xfrm>
          <a:prstGeom prst="rect">
            <a:avLst/>
          </a:prstGeom>
          <a:noFill/>
        </p:spPr>
        <p:txBody>
          <a:bodyPr wrap="square" lIns="0" rIns="0" tIns="0" bIns="0">
            <a:spAutoFit/>
          </a:bodyPr>
          <a:lstStyle/>
          <a:p>
            <a:pPr algn="l">
              <a:lnSpc>
                <a:spcPct val="125000"/>
              </a:lnSpc>
            </a:pPr>
            <a:r>
              <a:rPr sz="2600" b="1">
                <a:solidFill>
                  <a:srgbClr val="F7F6F2"/>
                </a:solidFill>
                <a:latin typeface="Arial"/>
              </a:rPr>
              <a:t>Developpement d'un systeme de tatouage numerique securise
pour les modeles generatifs, fonde sur la technique OTP</a:t>
            </a:r>
          </a:p>
        </p:txBody>
      </p:sp>
      <p:sp>
        <p:nvSpPr>
          <p:cNvPr id="4" name="Rectangle 3"/>
          <p:cNvSpPr/>
          <p:nvPr/>
        </p:nvSpPr>
        <p:spPr>
          <a:xfrm>
            <a:off x="1005840" y="2999232"/>
            <a:ext cx="1828800" cy="50292"/>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246120"/>
            <a:ext cx="10241280" cy="548640"/>
          </a:xfrm>
          <a:prstGeom prst="rect">
            <a:avLst/>
          </a:prstGeom>
          <a:noFill/>
        </p:spPr>
        <p:txBody>
          <a:bodyPr wrap="square" lIns="0" rIns="0" tIns="0" bIns="0">
            <a:spAutoFit/>
          </a:bodyPr>
          <a:lstStyle/>
          <a:p>
            <a:pPr algn="l">
              <a:lnSpc>
                <a:spcPct val="115000"/>
              </a:lnSpc>
            </a:pPr>
            <a:r>
              <a:rPr sz="1700" b="0">
                <a:solidFill>
                  <a:srgbClr val="B6BEC9"/>
                </a:solidFill>
                <a:latin typeface="Arial"/>
              </a:rPr>
              <a:t>Un temoin cryptographique unique par generation, inscrit dans les poids du modele</a:t>
            </a:r>
          </a:p>
        </p:txBody>
      </p:sp>
      <p:sp>
        <p:nvSpPr>
          <p:cNvPr id="6" name="TextBox 5"/>
          <p:cNvSpPr txBox="1"/>
          <p:nvPr/>
        </p:nvSpPr>
        <p:spPr>
          <a:xfrm>
            <a:off x="1005840" y="4343400"/>
            <a:ext cx="5120640" cy="1463040"/>
          </a:xfrm>
          <a:prstGeom prst="rect">
            <a:avLst/>
          </a:prstGeom>
          <a:noFill/>
        </p:spPr>
        <p:txBody>
          <a:bodyPr wrap="square" lIns="0" rIns="0" tIns="0" bIns="0">
            <a:spAutoFit/>
          </a:bodyPr>
          <a:lstStyle/>
          <a:p>
            <a:pPr algn="l">
              <a:lnSpc>
                <a:spcPct val="115000"/>
              </a:lnSpc>
            </a:pPr>
            <a:r>
              <a:rPr sz="1200" b="1">
                <a:solidFill>
                  <a:srgbClr val="C9A27A"/>
                </a:solidFill>
                <a:latin typeface="Arial"/>
              </a:rPr>
              <a:t>Presente par</a:t>
            </a:r>
          </a:p>
          <a:p>
            <a:pPr algn="l">
              <a:lnSpc>
                <a:spcPct val="115000"/>
              </a:lnSpc>
              <a:spcBef>
                <a:spcPts val="400"/>
              </a:spcBef>
            </a:pPr>
            <a:r>
              <a:rPr sz="1900" b="1">
                <a:solidFill>
                  <a:srgbClr val="F7F6F2"/>
                </a:solidFill>
                <a:latin typeface="Arial"/>
              </a:rPr>
              <a:t>NGUEAGHO TIODONG ROBERTO LANDRY</a:t>
            </a:r>
          </a:p>
          <a:p>
            <a:pPr algn="l">
              <a:lnSpc>
                <a:spcPct val="115000"/>
              </a:lnSpc>
            </a:pPr>
            <a:r>
              <a:rPr sz="1400" b="0">
                <a:solidFill>
                  <a:srgbClr val="9AA4B0"/>
                </a:solidFill>
                <a:latin typeface="Arial"/>
              </a:rPr>
              <a:t>Master 2 · Informatique</a:t>
            </a:r>
          </a:p>
        </p:txBody>
      </p:sp>
      <p:sp>
        <p:nvSpPr>
          <p:cNvPr id="7" name="TextBox 6"/>
          <p:cNvSpPr txBox="1"/>
          <p:nvPr/>
        </p:nvSpPr>
        <p:spPr>
          <a:xfrm>
            <a:off x="6492240" y="4343400"/>
            <a:ext cx="4754880" cy="1463040"/>
          </a:xfrm>
          <a:prstGeom prst="rect">
            <a:avLst/>
          </a:prstGeom>
          <a:noFill/>
        </p:spPr>
        <p:txBody>
          <a:bodyPr wrap="square" lIns="0" rIns="0" tIns="0" bIns="0">
            <a:spAutoFit/>
          </a:bodyPr>
          <a:lstStyle/>
          <a:p>
            <a:pPr algn="l">
              <a:lnSpc>
                <a:spcPct val="115000"/>
              </a:lnSpc>
            </a:pPr>
            <a:r>
              <a:rPr sz="1200" b="1">
                <a:solidFill>
                  <a:srgbClr val="C9A27A"/>
                </a:solidFill>
                <a:latin typeface="Arial"/>
              </a:rPr>
              <a:t>Sous la direction de</a:t>
            </a:r>
          </a:p>
          <a:p>
            <a:pPr algn="l">
              <a:lnSpc>
                <a:spcPct val="115000"/>
              </a:lnSpc>
              <a:spcBef>
                <a:spcPts val="400"/>
              </a:spcBef>
            </a:pPr>
            <a:r>
              <a:rPr sz="1900" b="1">
                <a:solidFill>
                  <a:srgbClr val="F7F6F2"/>
                </a:solidFill>
                <a:latin typeface="Arial"/>
              </a:rPr>
              <a:t>AMINOU HALIDOU</a:t>
            </a:r>
          </a:p>
          <a:p>
            <a:pPr algn="l">
              <a:lnSpc>
                <a:spcPct val="115000"/>
              </a:lnSpc>
            </a:pPr>
            <a:r>
              <a:rPr sz="1400" b="0">
                <a:solidFill>
                  <a:srgbClr val="9AA4B0"/>
                </a:solidFill>
                <a:latin typeface="Arial"/>
              </a:rPr>
              <a:t>Maître de Conférences</a:t>
            </a:r>
          </a:p>
        </p:txBody>
      </p:sp>
      <p:sp>
        <p:nvSpPr>
          <p:cNvPr id="8" name="TextBox 7"/>
          <p:cNvSpPr txBox="1"/>
          <p:nvPr/>
        </p:nvSpPr>
        <p:spPr>
          <a:xfrm>
            <a:off x="1005840" y="5943600"/>
            <a:ext cx="10241280" cy="731520"/>
          </a:xfrm>
          <a:prstGeom prst="rect">
            <a:avLst/>
          </a:prstGeom>
          <a:noFill/>
        </p:spPr>
        <p:txBody>
          <a:bodyPr wrap="square" lIns="0" rIns="0" tIns="0" bIns="0">
            <a:spAutoFit/>
          </a:bodyPr>
          <a:lstStyle/>
          <a:p>
            <a:pPr algn="l">
              <a:lnSpc>
                <a:spcPct val="115000"/>
              </a:lnSpc>
            </a:pPr>
            <a:r>
              <a:rPr sz="1300" b="0">
                <a:solidFill>
                  <a:srgbClr val="9AA4B0"/>
                </a:solidFill>
                <a:latin typeface="Arial"/>
              </a:rPr>
              <a:t>Universite de Yaounde I  ·  Faculte des Sciences</a:t>
            </a:r>
          </a:p>
          <a:p>
            <a:pPr algn="l">
              <a:lnSpc>
                <a:spcPct val="115000"/>
              </a:lnSpc>
            </a:pPr>
            <a:r>
              <a:rPr sz="1300" b="0">
                <a:solidFill>
                  <a:srgbClr val="9AA4B0"/>
                </a:solidFill>
                <a:latin typeface="Arial"/>
              </a:rPr>
              <a:t>Departement d'Informatique  ·  Master 2  ·  Annee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LE CONSTAT</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Une image generee ne se distingue plus d'une photo</a:t>
            </a:r>
          </a:p>
        </p:txBody>
      </p:sp>
      <p:sp>
        <p:nvSpPr>
          <p:cNvPr id="5" name="TextBox 4"/>
          <p:cNvSpPr txBox="1"/>
          <p:nvPr/>
        </p:nvSpPr>
        <p:spPr>
          <a:xfrm>
            <a:off x="685800" y="1828800"/>
            <a:ext cx="6675120" cy="4572000"/>
          </a:xfrm>
          <a:prstGeom prst="rect">
            <a:avLst/>
          </a:prstGeom>
          <a:noFill/>
        </p:spPr>
        <p:txBody>
          <a:bodyPr wrap="square" lIns="0" rIns="0" tIns="0" bIns="0">
            <a:spAutoFit/>
          </a:bodyPr>
          <a:lstStyle/>
          <a:p>
            <a:pPr>
              <a:lnSpc>
                <a:spcPct val="125000"/>
              </a:lnSpc>
            </a:pPr>
            <a:r>
              <a:rPr sz="1700">
                <a:solidFill>
                  <a:srgbClr val="C46A2E"/>
                </a:solidFill>
                <a:latin typeface="Arial"/>
              </a:rPr>
              <a:t>▸  </a:t>
            </a:r>
            <a:r>
              <a:rPr sz="1700" b="1">
                <a:solidFill>
                  <a:srgbClr val="1E2838"/>
                </a:solidFill>
                <a:latin typeface="Arial"/>
              </a:rPr>
              <a:t>Le contenu synthetique est devenu indiscernable</a:t>
            </a:r>
            <a:r>
              <a:rPr sz="1700">
                <a:solidFill>
                  <a:srgbClr val="1E2838"/>
                </a:solidFill>
                <a:latin typeface="Arial"/>
              </a:rPr>
              <a:t> a l'oeil comme aux detecteurs statistiques.</a:t>
            </a:r>
          </a:p>
          <a:p>
            <a:pPr>
              <a:lnSpc>
                <a:spcPct val="125000"/>
              </a:lnSpc>
              <a:spcBef>
                <a:spcPts val="1300"/>
              </a:spcBef>
            </a:pPr>
            <a:r>
              <a:rPr sz="1700">
                <a:solidFill>
                  <a:srgbClr val="C46A2E"/>
                </a:solidFill>
                <a:latin typeface="Arial"/>
              </a:rPr>
              <a:t>▸  </a:t>
            </a:r>
            <a:r>
              <a:rPr sz="1700" b="1">
                <a:solidFill>
                  <a:srgbClr val="1E2838"/>
                </a:solidFill>
                <a:latin typeface="Arial"/>
              </a:rPr>
              <a:t>Prouver l'origine d'une image</a:t>
            </a:r>
            <a:r>
              <a:rPr sz="1700">
                <a:solidFill>
                  <a:srgbClr val="1E2838"/>
                </a:solidFill>
                <a:latin typeface="Arial"/>
              </a:rPr>
              <a:t> devient une exigence reglementaire : l'AI Act impose le marquage des contenus generes.</a:t>
            </a:r>
          </a:p>
          <a:p>
            <a:pPr>
              <a:lnSpc>
                <a:spcPct val="125000"/>
              </a:lnSpc>
              <a:spcBef>
                <a:spcPts val="1300"/>
              </a:spcBef>
            </a:pPr>
            <a:r>
              <a:rPr sz="1700">
                <a:solidFill>
                  <a:srgbClr val="C46A2E"/>
                </a:solidFill>
                <a:latin typeface="Arial"/>
              </a:rPr>
              <a:t>▸  </a:t>
            </a:r>
            <a:r>
              <a:rPr sz="1700" b="1">
                <a:solidFill>
                  <a:srgbClr val="1E2838"/>
                </a:solidFill>
                <a:latin typeface="Arial"/>
              </a:rPr>
              <a:t>Un filigrane ne suffit pas.</a:t>
            </a:r>
            <a:r>
              <a:rPr sz="1700">
                <a:solidFill>
                  <a:srgbClr val="1E2838"/>
                </a:solidFill>
                <a:latin typeface="Arial"/>
              </a:rPr>
              <a:t> Il doit resister aux transformations ordinaires, et surtout ne jamais accuser a tort.</a:t>
            </a:r>
          </a:p>
        </p:txBody>
      </p:sp>
      <p:sp>
        <p:nvSpPr>
          <p:cNvPr id="6" name="Rectangle 5"/>
          <p:cNvSpPr/>
          <p:nvPr/>
        </p:nvSpPr>
        <p:spPr>
          <a:xfrm>
            <a:off x="7818120" y="1965960"/>
            <a:ext cx="1828800" cy="141732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0" y="2167128"/>
            <a:ext cx="1554480" cy="1051560"/>
          </a:xfrm>
          <a:prstGeom prst="rect">
            <a:avLst/>
          </a:prstGeom>
          <a:noFill/>
        </p:spPr>
        <p:txBody>
          <a:bodyPr wrap="square" lIns="0" rIns="0" tIns="0" bIns="0">
            <a:spAutoFit/>
          </a:bodyPr>
          <a:lstStyle/>
          <a:p>
            <a:pPr algn="ctr">
              <a:lnSpc>
                <a:spcPct val="115000"/>
              </a:lnSpc>
            </a:pPr>
            <a:r>
              <a:rPr sz="3400" b="1">
                <a:solidFill>
                  <a:srgbClr val="2E6F8E"/>
                </a:solidFill>
                <a:latin typeface="Arial"/>
              </a:rPr>
              <a:t>17</a:t>
            </a:r>
          </a:p>
          <a:p>
            <a:pPr algn="ctr">
              <a:lnSpc>
                <a:spcPct val="105000"/>
              </a:lnSpc>
              <a:spcBef>
                <a:spcPts val="400"/>
              </a:spcBef>
            </a:pPr>
            <a:r>
              <a:rPr sz="1200" b="0">
                <a:solidFill>
                  <a:srgbClr val="6B7482"/>
                </a:solidFill>
                <a:latin typeface="Arial"/>
              </a:rPr>
              <a:t>articles publies
en 2024-2026</a:t>
            </a:r>
          </a:p>
        </p:txBody>
      </p:sp>
      <p:sp>
        <p:nvSpPr>
          <p:cNvPr id="8" name="Rectangle 7"/>
          <p:cNvSpPr/>
          <p:nvPr/>
        </p:nvSpPr>
        <p:spPr>
          <a:xfrm>
            <a:off x="9875520" y="1965960"/>
            <a:ext cx="1828800" cy="141732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12680" y="2167128"/>
            <a:ext cx="1554480" cy="1051560"/>
          </a:xfrm>
          <a:prstGeom prst="rect">
            <a:avLst/>
          </a:prstGeom>
          <a:noFill/>
        </p:spPr>
        <p:txBody>
          <a:bodyPr wrap="square" lIns="0" rIns="0" tIns="0" bIns="0">
            <a:spAutoFit/>
          </a:bodyPr>
          <a:lstStyle/>
          <a:p>
            <a:pPr algn="ctr">
              <a:lnSpc>
                <a:spcPct val="115000"/>
              </a:lnSpc>
            </a:pPr>
            <a:r>
              <a:rPr sz="3400" b="1">
                <a:solidFill>
                  <a:srgbClr val="A83B3B"/>
                </a:solidFill>
                <a:latin typeface="Arial"/>
              </a:rPr>
              <a:t>0</a:t>
            </a:r>
          </a:p>
          <a:p>
            <a:pPr algn="ctr">
              <a:lnSpc>
                <a:spcPct val="105000"/>
              </a:lnSpc>
              <a:spcBef>
                <a:spcPts val="400"/>
              </a:spcBef>
            </a:pPr>
            <a:r>
              <a:rPr sz="1200" b="0">
                <a:solidFill>
                  <a:srgbClr val="6B7482"/>
                </a:solidFill>
                <a:latin typeface="Arial"/>
              </a:rPr>
              <a:t>combinant les trois
proprietes visees</a:t>
            </a:r>
          </a:p>
        </p:txBody>
      </p:sp>
      <p:sp>
        <p:nvSpPr>
          <p:cNvPr id="10" name="TextBox 9"/>
          <p:cNvSpPr txBox="1"/>
          <p:nvPr/>
        </p:nvSpPr>
        <p:spPr>
          <a:xfrm>
            <a:off x="7818120" y="3749039"/>
            <a:ext cx="3886200" cy="2011680"/>
          </a:xfrm>
          <a:prstGeom prst="rect">
            <a:avLst/>
          </a:prstGeom>
          <a:noFill/>
        </p:spPr>
        <p:txBody>
          <a:bodyPr wrap="square" lIns="0" rIns="0" tIns="0" bIns="0">
            <a:spAutoFit/>
          </a:bodyPr>
          <a:lstStyle/>
          <a:p>
            <a:pPr algn="l">
              <a:lnSpc>
                <a:spcPct val="115000"/>
              </a:lnSpc>
            </a:pPr>
            <a:r>
              <a:rPr sz="1400" b="1">
                <a:solidFill>
                  <a:srgbClr val="141F33"/>
                </a:solidFill>
                <a:latin typeface="Arial"/>
              </a:rPr>
              <a:t>Les trois proprietes</a:t>
            </a:r>
          </a:p>
          <a:p>
            <a:pPr algn="l">
              <a:lnSpc>
                <a:spcPct val="115000"/>
              </a:lnSpc>
              <a:spcBef>
                <a:spcPts val="600"/>
              </a:spcBef>
            </a:pPr>
            <a:r>
              <a:rPr sz="1350" b="0">
                <a:solidFill>
                  <a:srgbClr val="1E2838"/>
                </a:solidFill>
                <a:latin typeface="Arial"/>
              </a:rPr>
              <a:t>·  securite cryptographique formelle</a:t>
            </a:r>
          </a:p>
          <a:p>
            <a:pPr algn="l">
              <a:lnSpc>
                <a:spcPct val="115000"/>
              </a:lnSpc>
              <a:spcBef>
                <a:spcPts val="600"/>
              </a:spcBef>
            </a:pPr>
            <a:r>
              <a:rPr sz="1350" b="0">
                <a:solidFill>
                  <a:srgbClr val="1E2838"/>
                </a:solidFill>
                <a:latin typeface="Arial"/>
              </a:rPr>
              <a:t>·  tracabilite individuelle par generation</a:t>
            </a:r>
          </a:p>
          <a:p>
            <a:pPr algn="l">
              <a:lnSpc>
                <a:spcPct val="115000"/>
              </a:lnSpc>
              <a:spcBef>
                <a:spcPts val="600"/>
              </a:spcBef>
            </a:pPr>
            <a:r>
              <a:rPr sz="1350" b="0">
                <a:solidFill>
                  <a:srgbClr val="1E2838"/>
                </a:solidFill>
                <a:latin typeface="Arial"/>
              </a:rPr>
              <a:t>·  couverture architecturale large</a:t>
            </a:r>
          </a:p>
        </p:txBody>
      </p:sp>
      <p:sp>
        <p:nvSpPr>
          <p:cNvPr id="11" name="TextBox 10"/>
          <p:cNvSpPr txBox="1"/>
          <p:nvPr/>
        </p:nvSpPr>
        <p:spPr>
          <a:xfrm>
            <a:off x="685800" y="6172200"/>
            <a:ext cx="10881360" cy="502920"/>
          </a:xfrm>
          <a:prstGeom prst="rect">
            <a:avLst/>
          </a:prstGeom>
          <a:noFill/>
        </p:spPr>
        <p:txBody>
          <a:bodyPr wrap="square" lIns="0" rIns="0" tIns="0" bIns="0">
            <a:spAutoFit/>
          </a:bodyPr>
          <a:lstStyle/>
          <a:p>
            <a:pPr algn="l">
              <a:lnSpc>
                <a:spcPct val="115000"/>
              </a:lnSpc>
            </a:pPr>
            <a:r>
              <a:rPr sz="1250" b="0">
                <a:solidFill>
                  <a:srgbClr val="6B7482"/>
                </a:solidFill>
                <a:latin typeface="Arial"/>
              </a:rPr>
              <a:t>Le verrou n'est pas la detection : c'est la preuve, individuelle et opposable.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SYNTHESE CRITIQUE</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Ce que fait l'existant, et ce qui lui manque</a:t>
            </a:r>
          </a:p>
        </p:txBody>
      </p:sp>
      <p:graphicFrame>
        <p:nvGraphicFramePr>
          <p:cNvPr id="5" name="Table 4"/>
          <p:cNvGraphicFramePr>
            <a:graphicFrameLocks noGrp="1"/>
          </p:cNvGraphicFramePr>
          <p:nvPr/>
        </p:nvGraphicFramePr>
        <p:xfrm>
          <a:off x="685800" y="1828800"/>
          <a:ext cx="10789917" cy="2286000"/>
        </p:xfrm>
        <a:graphic>
          <a:graphicData uri="http://schemas.openxmlformats.org/drawingml/2006/table">
            <a:tbl>
              <a:tblPr firstRow="1" bandRow="1">
                <a:tableStyleId>{5C22544A-7EE6-4342-B048-85BDC9FD1C3A}</a:tableStyleId>
              </a:tblPr>
              <a:tblGrid>
                <a:gridCol w="2862631"/>
                <a:gridCol w="1761619"/>
                <a:gridCol w="3303036"/>
                <a:gridCol w="2862631"/>
              </a:tblGrid>
              <a:tr h="457200">
                <a:tc>
                  <a:txBody>
                    <a:bodyPr/>
                    <a:lstStyle/>
                    <a:p>
                      <a:pPr algn="l"/>
                      <a:r>
                        <a:rPr sz="1350" b="1">
                          <a:solidFill>
                            <a:srgbClr val="F7F6F2"/>
                          </a:solidFill>
                          <a:latin typeface="Arial"/>
                        </a:rPr>
                        <a:t>Approche</a:t>
                      </a:r>
                    </a:p>
                  </a:txBody>
                  <a:tcPr>
                    <a:solidFill>
                      <a:srgbClr val="141F33"/>
                    </a:solidFill>
                  </a:tcPr>
                </a:tc>
                <a:tc>
                  <a:txBody>
                    <a:bodyPr/>
                    <a:lstStyle/>
                    <a:p>
                      <a:pPr algn="ctr"/>
                      <a:r>
                        <a:rPr sz="1350" b="1">
                          <a:solidFill>
                            <a:srgbClr val="F7F6F2"/>
                          </a:solidFill>
                          <a:latin typeface="Arial"/>
                        </a:rPr>
                        <a:t>Securite formelle</a:t>
                      </a:r>
                    </a:p>
                  </a:txBody>
                  <a:tcPr>
                    <a:solidFill>
                      <a:srgbClr val="141F33"/>
                    </a:solidFill>
                  </a:tcPr>
                </a:tc>
                <a:tc>
                  <a:txBody>
                    <a:bodyPr/>
                    <a:lstStyle/>
                    <a:p>
                      <a:pPr algn="ctr"/>
                      <a:r>
                        <a:rPr sz="1350" b="1">
                          <a:solidFill>
                            <a:srgbClr val="F7F6F2"/>
                          </a:solidFill>
                          <a:latin typeface="Arial"/>
                        </a:rPr>
                        <a:t>Message unique</a:t>
                      </a:r>
                    </a:p>
                  </a:txBody>
                  <a:tcPr>
                    <a:solidFill>
                      <a:srgbClr val="141F33"/>
                    </a:solidFill>
                  </a:tcPr>
                </a:tc>
                <a:tc>
                  <a:txBody>
                    <a:bodyPr/>
                    <a:lstStyle/>
                    <a:p>
                      <a:pPr algn="ctr"/>
                      <a:r>
                        <a:rPr sz="1350" b="1">
                          <a:solidFill>
                            <a:srgbClr val="F7F6F2"/>
                          </a:solidFill>
                          <a:latin typeface="Arial"/>
                        </a:rPr>
                        <a:t>Familles couvertes</a:t>
                      </a:r>
                    </a:p>
                  </a:txBody>
                  <a:tcPr>
                    <a:solidFill>
                      <a:srgbClr val="141F33"/>
                    </a:solidFill>
                  </a:tcPr>
                </a:tc>
              </a:tr>
              <a:tr h="457200">
                <a:tc>
                  <a:txBody>
                    <a:bodyPr/>
                    <a:lstStyle/>
                    <a:p>
                      <a:pPr algn="l"/>
                      <a:r>
                        <a:rPr sz="1350" b="1">
                          <a:solidFill>
                            <a:srgbClr val="1E2838"/>
                          </a:solidFill>
                          <a:latin typeface="Arial"/>
                        </a:rPr>
                        <a:t>DistSeal (2026)</a:t>
                      </a:r>
                    </a:p>
                  </a:txBody>
                  <a:tcPr>
                    <a:solidFill>
                      <a:srgbClr val="FFFFFF"/>
                    </a:solidFill>
                  </a:tcPr>
                </a:tc>
                <a:tc>
                  <a:txBody>
                    <a:bodyPr/>
                    <a:lstStyle/>
                    <a:p>
                      <a:pPr algn="ctr"/>
                      <a:r>
                        <a:rPr sz="1350">
                          <a:solidFill>
                            <a:srgbClr val="1E2838"/>
                          </a:solidFill>
                          <a:latin typeface="Arial"/>
                        </a:rPr>
                        <a:t>non</a:t>
                      </a:r>
                    </a:p>
                  </a:txBody>
                  <a:tcPr>
                    <a:solidFill>
                      <a:srgbClr val="FFFFFF"/>
                    </a:solidFill>
                  </a:tcPr>
                </a:tc>
                <a:tc>
                  <a:txBody>
                    <a:bodyPr/>
                    <a:lstStyle/>
                    <a:p>
                      <a:pPr algn="ctr"/>
                      <a:r>
                        <a:rPr sz="1350">
                          <a:solidFill>
                            <a:srgbClr val="1E2838"/>
                          </a:solidFill>
                          <a:latin typeface="Arial"/>
                        </a:rPr>
                        <a:t>non : message fixe, rejouable</a:t>
                      </a:r>
                    </a:p>
                  </a:txBody>
                  <a:tcPr>
                    <a:solidFill>
                      <a:srgbClr val="FFFFFF"/>
                    </a:solidFill>
                  </a:tcPr>
                </a:tc>
                <a:tc>
                  <a:txBody>
                    <a:bodyPr/>
                    <a:lstStyle/>
                    <a:p>
                      <a:pPr algn="ctr"/>
                      <a:r>
                        <a:rPr sz="1350">
                          <a:solidFill>
                            <a:srgbClr val="1E2838"/>
                          </a:solidFill>
                          <a:latin typeface="Arial"/>
                        </a:rPr>
                        <a:t>diffusion + autoregressif</a:t>
                      </a:r>
                    </a:p>
                  </a:txBody>
                  <a:tcPr>
                    <a:solidFill>
                      <a:srgbClr val="FFFFFF"/>
                    </a:solidFill>
                  </a:tcPr>
                </a:tc>
              </a:tr>
              <a:tr h="457200">
                <a:tc>
                  <a:txBody>
                    <a:bodyPr/>
                    <a:lstStyle/>
                    <a:p>
                      <a:pPr algn="l"/>
                      <a:r>
                        <a:rPr sz="1350" b="1">
                          <a:solidFill>
                            <a:srgbClr val="1E2838"/>
                          </a:solidFill>
                          <a:latin typeface="Arial"/>
                        </a:rPr>
                        <a:t>WOUAF (2024)</a:t>
                      </a:r>
                    </a:p>
                  </a:txBody>
                  <a:tcPr>
                    <a:solidFill>
                      <a:srgbClr val="EFEDE7"/>
                    </a:solidFill>
                  </a:tcPr>
                </a:tc>
                <a:tc>
                  <a:txBody>
                    <a:bodyPr/>
                    <a:lstStyle/>
                    <a:p>
                      <a:pPr algn="ctr"/>
                      <a:r>
                        <a:rPr sz="1350">
                          <a:solidFill>
                            <a:srgbClr val="1E2838"/>
                          </a:solidFill>
                          <a:latin typeface="Arial"/>
                        </a:rPr>
                        <a:t>non</a:t>
                      </a:r>
                    </a:p>
                  </a:txBody>
                  <a:tcPr>
                    <a:solidFill>
                      <a:srgbClr val="EFEDE7"/>
                    </a:solidFill>
                  </a:tcPr>
                </a:tc>
                <a:tc>
                  <a:txBody>
                    <a:bodyPr/>
                    <a:lstStyle/>
                    <a:p>
                      <a:pPr algn="ctr"/>
                      <a:r>
                        <a:rPr sz="1350">
                          <a:solidFill>
                            <a:srgbClr val="1E2838"/>
                          </a:solidFill>
                          <a:latin typeface="Arial"/>
                        </a:rPr>
                        <a:t>oui, mais code arbitraire</a:t>
                      </a:r>
                    </a:p>
                  </a:txBody>
                  <a:tcPr>
                    <a:solidFill>
                      <a:srgbClr val="EFEDE7"/>
                    </a:solidFill>
                  </a:tcPr>
                </a:tc>
                <a:tc>
                  <a:txBody>
                    <a:bodyPr/>
                    <a:lstStyle/>
                    <a:p>
                      <a:pPr algn="ctr"/>
                      <a:r>
                        <a:rPr sz="1350">
                          <a:solidFill>
                            <a:srgbClr val="1E2838"/>
                          </a:solidFill>
                          <a:latin typeface="Arial"/>
                        </a:rPr>
                        <a:t>diffusion</a:t>
                      </a:r>
                    </a:p>
                  </a:txBody>
                  <a:tcPr>
                    <a:solidFill>
                      <a:srgbClr val="EFEDE7"/>
                    </a:solidFill>
                  </a:tcPr>
                </a:tc>
              </a:tr>
              <a:tr h="457200">
                <a:tc>
                  <a:txBody>
                    <a:bodyPr/>
                    <a:lstStyle/>
                    <a:p>
                      <a:pPr algn="l"/>
                      <a:r>
                        <a:rPr sz="1350" b="1">
                          <a:solidFill>
                            <a:srgbClr val="1E2838"/>
                          </a:solidFill>
                          <a:latin typeface="Arial"/>
                        </a:rPr>
                        <a:t>MetaSeal (2026)</a:t>
                      </a:r>
                    </a:p>
                  </a:txBody>
                  <a:tcPr>
                    <a:solidFill>
                      <a:srgbClr val="FFFFFF"/>
                    </a:solidFill>
                  </a:tcPr>
                </a:tc>
                <a:tc>
                  <a:txBody>
                    <a:bodyPr/>
                    <a:lstStyle/>
                    <a:p>
                      <a:pPr algn="ctr"/>
                      <a:r>
                        <a:rPr sz="1350">
                          <a:solidFill>
                            <a:srgbClr val="1E2838"/>
                          </a:solidFill>
                          <a:latin typeface="Arial"/>
                        </a:rPr>
                        <a:t>oui</a:t>
                      </a:r>
                    </a:p>
                  </a:txBody>
                  <a:tcPr>
                    <a:solidFill>
                      <a:srgbClr val="FFFFFF"/>
                    </a:solidFill>
                  </a:tcPr>
                </a:tc>
                <a:tc>
                  <a:txBody>
                    <a:bodyPr/>
                    <a:lstStyle/>
                    <a:p>
                      <a:pPr algn="ctr"/>
                      <a:r>
                        <a:rPr sz="1350">
                          <a:solidFill>
                            <a:srgbClr val="1E2838"/>
                          </a:solidFill>
                          <a:latin typeface="Arial"/>
                        </a:rPr>
                        <a:t>oui</a:t>
                      </a:r>
                    </a:p>
                  </a:txBody>
                  <a:tcPr>
                    <a:solidFill>
                      <a:srgbClr val="FFFFFF"/>
                    </a:solidFill>
                  </a:tcPr>
                </a:tc>
                <a:tc>
                  <a:txBody>
                    <a:bodyPr/>
                    <a:lstStyle/>
                    <a:p>
                      <a:pPr algn="ctr"/>
                      <a:r>
                        <a:rPr sz="1350">
                          <a:solidFill>
                            <a:srgbClr val="1E2838"/>
                          </a:solidFill>
                          <a:latin typeface="Arial"/>
                        </a:rPr>
                        <a:t>diffusion seule</a:t>
                      </a:r>
                    </a:p>
                  </a:txBody>
                  <a:tcPr>
                    <a:solidFill>
                      <a:srgbClr val="FFFFFF"/>
                    </a:solidFill>
                  </a:tcPr>
                </a:tc>
              </a:tr>
              <a:tr h="457200">
                <a:tc>
                  <a:txBody>
                    <a:bodyPr/>
                    <a:lstStyle/>
                    <a:p>
                      <a:pPr algn="l"/>
                      <a:r>
                        <a:rPr sz="1350" b="1">
                          <a:solidFill>
                            <a:srgbClr val="1E2838"/>
                          </a:solidFill>
                          <a:latin typeface="Arial"/>
                        </a:rPr>
                        <a:t>CipherMark</a:t>
                      </a:r>
                    </a:p>
                  </a:txBody>
                  <a:tcPr>
                    <a:solidFill>
                      <a:srgbClr val="EFEDE7"/>
                    </a:solidFill>
                  </a:tcPr>
                </a:tc>
                <a:tc>
                  <a:txBody>
                    <a:bodyPr/>
                    <a:lstStyle/>
                    <a:p>
                      <a:pPr algn="ctr"/>
                      <a:r>
                        <a:rPr sz="1350">
                          <a:solidFill>
                            <a:srgbClr val="1E2838"/>
                          </a:solidFill>
                          <a:latin typeface="Arial"/>
                        </a:rPr>
                        <a:t>oui</a:t>
                      </a:r>
                    </a:p>
                  </a:txBody>
                  <a:tcPr>
                    <a:solidFill>
                      <a:srgbClr val="EFEDE7"/>
                    </a:solidFill>
                  </a:tcPr>
                </a:tc>
                <a:tc>
                  <a:txBody>
                    <a:bodyPr/>
                    <a:lstStyle/>
                    <a:p>
                      <a:pPr algn="ctr"/>
                      <a:r>
                        <a:rPr sz="1350">
                          <a:solidFill>
                            <a:srgbClr val="1E2838"/>
                          </a:solidFill>
                          <a:latin typeface="Arial"/>
                        </a:rPr>
                        <a:t>oui, lie au contenu</a:t>
                      </a:r>
                    </a:p>
                  </a:txBody>
                  <a:tcPr>
                    <a:solidFill>
                      <a:srgbClr val="EFEDE7"/>
                    </a:solidFill>
                  </a:tcPr>
                </a:tc>
                <a:tc>
                  <a:txBody>
                    <a:bodyPr/>
                    <a:lstStyle/>
                    <a:p>
                      <a:pPr algn="ctr"/>
                      <a:r>
                        <a:rPr sz="1350">
                          <a:solidFill>
                            <a:srgbClr val="1E2838"/>
                          </a:solidFill>
                          <a:latin typeface="Arial"/>
                        </a:rPr>
                        <a:t>diffusion + autoregressif</a:t>
                      </a:r>
                    </a:p>
                  </a:txBody>
                  <a:tcPr>
                    <a:solidFill>
                      <a:srgbClr val="EFEDE7"/>
                    </a:solidFill>
                  </a:tcPr>
                </a:tc>
              </a:tr>
            </a:tbl>
          </a:graphicData>
        </a:graphic>
      </p:graphicFrame>
      <p:sp>
        <p:nvSpPr>
          <p:cNvPr id="6" name="TextBox 5"/>
          <p:cNvSpPr txBox="1"/>
          <p:nvPr/>
        </p:nvSpPr>
        <p:spPr>
          <a:xfrm>
            <a:off x="685800" y="4297680"/>
            <a:ext cx="10789920" cy="1463040"/>
          </a:xfrm>
          <a:prstGeom prst="rect">
            <a:avLst/>
          </a:prstGeom>
          <a:noFill/>
        </p:spPr>
        <p:txBody>
          <a:bodyPr wrap="square" lIns="0" rIns="0" tIns="0" bIns="0">
            <a:spAutoFit/>
          </a:bodyPr>
          <a:lstStyle/>
          <a:p>
            <a:pPr algn="l">
              <a:lnSpc>
                <a:spcPct val="115000"/>
              </a:lnSpc>
            </a:pPr>
            <a:r>
              <a:rPr sz="1600" b="1">
                <a:solidFill>
                  <a:srgbClr val="141F33"/>
                </a:solidFill>
                <a:latin typeface="Arial"/>
              </a:rPr>
              <a:t>Le manque, precisement</a:t>
            </a:r>
          </a:p>
          <a:p>
            <a:pPr algn="l">
              <a:lnSpc>
                <a:spcPct val="130000"/>
              </a:lnSpc>
              <a:spcBef>
                <a:spcPts val="600"/>
              </a:spcBef>
            </a:pPr>
            <a:r>
              <a:rPr sz="1550" b="0">
                <a:solidFill>
                  <a:srgbClr val="1E2838"/>
                </a:solidFill>
                <a:latin typeface="Arial"/>
              </a:rPr>
              <a:t>DistSeal grave un message FIXE dans les poids du decodeur : toutes ses generations portent le meme filigrane, qui peut donc etre rejoue. Les schemas cryptographiques, eux, restent confines a la diffusion. Aucun travail ne tient les trois proprietes ensemble.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F33"/>
        </a:solidFill>
        <a:effectLst/>
      </p:bgPr>
    </p:bg>
    <p:spTree>
      <p:nvGrpSpPr>
        <p:cNvPr id="1" name=""/>
        <p:cNvGrpSpPr/>
        <p:nvPr/>
      </p:nvGrpSpPr>
      <p:grpSpPr/>
      <p:sp>
        <p:nvSpPr>
          <p:cNvPr id="2" name="TextBox 1"/>
          <p:cNvSpPr txBox="1"/>
          <p:nvPr/>
        </p:nvSpPr>
        <p:spPr>
          <a:xfrm>
            <a:off x="1280160" y="1463040"/>
            <a:ext cx="9601200" cy="457200"/>
          </a:xfrm>
          <a:prstGeom prst="rect">
            <a:avLst/>
          </a:prstGeom>
          <a:noFill/>
        </p:spPr>
        <p:txBody>
          <a:bodyPr wrap="square" lIns="0" rIns="0" tIns="0" bIns="0">
            <a:spAutoFit/>
          </a:bodyPr>
          <a:lstStyle/>
          <a:p>
            <a:pPr algn="l">
              <a:lnSpc>
                <a:spcPct val="115000"/>
              </a:lnSpc>
            </a:pPr>
            <a:r>
              <a:rPr sz="1400" b="1">
                <a:solidFill>
                  <a:srgbClr val="C9A27A"/>
                </a:solidFill>
                <a:latin typeface="Arial"/>
              </a:rPr>
              <a:t>QUESTION DE RECHERCHE</a:t>
            </a:r>
          </a:p>
        </p:txBody>
      </p:sp>
      <p:sp>
        <p:nvSpPr>
          <p:cNvPr id="3" name="TextBox 2"/>
          <p:cNvSpPr txBox="1"/>
          <p:nvPr/>
        </p:nvSpPr>
        <p:spPr>
          <a:xfrm>
            <a:off x="1280160" y="2148840"/>
            <a:ext cx="9601200" cy="2377440"/>
          </a:xfrm>
          <a:prstGeom prst="rect">
            <a:avLst/>
          </a:prstGeom>
          <a:noFill/>
        </p:spPr>
        <p:txBody>
          <a:bodyPr wrap="square" lIns="0" rIns="0" tIns="0" bIns="0">
            <a:spAutoFit/>
          </a:bodyPr>
          <a:lstStyle/>
          <a:p>
            <a:pPr algn="l">
              <a:lnSpc>
                <a:spcPct val="128000"/>
              </a:lnSpc>
            </a:pPr>
            <a:r>
              <a:rPr sz="3000" b="1">
                <a:solidFill>
                  <a:srgbClr val="F7F6F2"/>
                </a:solidFill>
                <a:latin typeface="Arial"/>
              </a:rPr>
              <a:t>Peut-on concevoir, pour les modeles generatifs, un tatouage garantissant a la fois une securite cryptographique formelle, une tracabilite individuelle par generation et une compatibilite architecturale large ?</a:t>
            </a:r>
          </a:p>
        </p:txBody>
      </p:sp>
      <p:sp>
        <p:nvSpPr>
          <p:cNvPr id="4" name="Rectangle 3"/>
          <p:cNvSpPr/>
          <p:nvPr/>
        </p:nvSpPr>
        <p:spPr>
          <a:xfrm>
            <a:off x="1280160" y="4800600"/>
            <a:ext cx="1463040" cy="45720"/>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5120640"/>
            <a:ext cx="9601200" cy="822960"/>
          </a:xfrm>
          <a:prstGeom prst="rect">
            <a:avLst/>
          </a:prstGeom>
          <a:noFill/>
        </p:spPr>
        <p:txBody>
          <a:bodyPr wrap="square" lIns="0" rIns="0" tIns="0" bIns="0">
            <a:spAutoFit/>
          </a:bodyPr>
          <a:lstStyle/>
          <a:p>
            <a:pPr algn="l">
              <a:lnSpc>
                <a:spcPct val="115000"/>
              </a:lnSpc>
            </a:pPr>
            <a:r>
              <a:rPr sz="1700" b="0">
                <a:solidFill>
                  <a:srgbClr val="B6BEC9"/>
                </a:solidFill>
                <a:latin typeface="Arial"/>
              </a:rPr>
              <a:t>Reponse apportee : oui, sous conditions explicites, et le modele generatif peut porter le dispositif lui-meme.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LA PROPOSITION</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Le champ temoin  Ω : une signature par generation</a:t>
            </a:r>
          </a:p>
        </p:txBody>
      </p:sp>
      <p:sp>
        <p:nvSpPr>
          <p:cNvPr id="5" name="Rectangle 4"/>
          <p:cNvSpPr/>
          <p:nvPr/>
        </p:nvSpPr>
        <p:spPr>
          <a:xfrm>
            <a:off x="685800" y="1783080"/>
            <a:ext cx="10789920" cy="1051560"/>
          </a:xfrm>
          <a:prstGeom prst="rect">
            <a:avLst/>
          </a:prstGeom>
          <a:solidFill>
            <a:srgbClr val="FFFFFF"/>
          </a:solidFill>
          <a:ln w="19050">
            <a:solidFill>
              <a:srgbClr val="C46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32720" cy="548640"/>
          </a:xfrm>
          <a:prstGeom prst="rect">
            <a:avLst/>
          </a:prstGeom>
          <a:noFill/>
        </p:spPr>
        <p:txBody>
          <a:bodyPr wrap="square" lIns="0" rIns="0" tIns="0" bIns="0">
            <a:spAutoFit/>
          </a:bodyPr>
          <a:lstStyle/>
          <a:p>
            <a:pPr algn="ctr">
              <a:lnSpc>
                <a:spcPct val="115000"/>
              </a:lnSpc>
            </a:pPr>
            <a:r>
              <a:rPr sz="2500" b="1">
                <a:solidFill>
                  <a:srgbClr val="141F33"/>
                </a:solidFill>
                <a:latin typeface="Arial"/>
              </a:rPr>
              <a:t>Ω  =  HMAC(K_secret , h)   ⊕   PRG(s_master , nonce)</a:t>
            </a:r>
          </a:p>
        </p:txBody>
      </p:sp>
      <p:sp>
        <p:nvSpPr>
          <p:cNvPr id="7" name="Rectangle 6"/>
          <p:cNvSpPr/>
          <p:nvPr/>
        </p:nvSpPr>
        <p:spPr>
          <a:xfrm>
            <a:off x="685800" y="3017520"/>
            <a:ext cx="3429000" cy="192024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017520"/>
            <a:ext cx="64008" cy="1920240"/>
          </a:xfrm>
          <a:prstGeom prst="rect">
            <a:avLst/>
          </a:prstGeom>
          <a:solidFill>
            <a:srgbClr val="2E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246120"/>
            <a:ext cx="3017520" cy="1554480"/>
          </a:xfrm>
          <a:prstGeom prst="rect">
            <a:avLst/>
          </a:prstGeom>
          <a:noFill/>
        </p:spPr>
        <p:txBody>
          <a:bodyPr wrap="square" lIns="0" rIns="0" tIns="0" bIns="0">
            <a:spAutoFit/>
          </a:bodyPr>
          <a:lstStyle/>
          <a:p>
            <a:pPr algn="l">
              <a:lnSpc>
                <a:spcPct val="115000"/>
              </a:lnSpc>
            </a:pPr>
            <a:r>
              <a:rPr sz="1700" b="1">
                <a:solidFill>
                  <a:srgbClr val="2E6F8E"/>
                </a:solidFill>
                <a:latin typeface="Arial"/>
              </a:rPr>
              <a:t>HMAC(K, h)</a:t>
            </a:r>
          </a:p>
          <a:p>
            <a:pPr algn="l">
              <a:lnSpc>
                <a:spcPct val="125000"/>
              </a:lnSpc>
              <a:spcBef>
                <a:spcPts val="700"/>
              </a:spcBef>
            </a:pPr>
            <a:r>
              <a:rPr sz="1350" b="0">
                <a:solidFill>
                  <a:srgbClr val="1E2838"/>
                </a:solidFill>
                <a:latin typeface="Arial"/>
              </a:rPr>
              <a:t>lie le temoin au CONTENU par une empreinte perceptuelle DINOv2.
Transplanter la marque sur une autre image la casse.</a:t>
            </a:r>
          </a:p>
        </p:txBody>
      </p:sp>
      <p:sp>
        <p:nvSpPr>
          <p:cNvPr id="10" name="Rectangle 9"/>
          <p:cNvSpPr/>
          <p:nvPr/>
        </p:nvSpPr>
        <p:spPr>
          <a:xfrm>
            <a:off x="4343400" y="3017520"/>
            <a:ext cx="3429000" cy="192024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3017520"/>
            <a:ext cx="64008" cy="1920240"/>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3246120"/>
            <a:ext cx="3017520" cy="1554480"/>
          </a:xfrm>
          <a:prstGeom prst="rect">
            <a:avLst/>
          </a:prstGeom>
          <a:noFill/>
        </p:spPr>
        <p:txBody>
          <a:bodyPr wrap="square" lIns="0" rIns="0" tIns="0" bIns="0">
            <a:spAutoFit/>
          </a:bodyPr>
          <a:lstStyle/>
          <a:p>
            <a:pPr algn="l">
              <a:lnSpc>
                <a:spcPct val="115000"/>
              </a:lnSpc>
            </a:pPr>
            <a:r>
              <a:rPr sz="1700" b="1">
                <a:solidFill>
                  <a:srgbClr val="C46A2E"/>
                </a:solidFill>
                <a:latin typeface="Arial"/>
              </a:rPr>
              <a:t>⊕ PRG(s, nonce)</a:t>
            </a:r>
          </a:p>
          <a:p>
            <a:pPr algn="l">
              <a:lnSpc>
                <a:spcPct val="125000"/>
              </a:lnSpc>
              <a:spcBef>
                <a:spcPts val="700"/>
              </a:spcBef>
            </a:pPr>
            <a:r>
              <a:rPr sz="1350" b="0">
                <a:solidFill>
                  <a:srgbClr val="1E2838"/>
                </a:solidFill>
                <a:latin typeface="Arial"/>
              </a:rPr>
              <a:t>rend chaque generation UNIQUE et illisible sans les cles.
Rejouer une marque observee devient impossible.</a:t>
            </a:r>
          </a:p>
        </p:txBody>
      </p:sp>
      <p:sp>
        <p:nvSpPr>
          <p:cNvPr id="13" name="Rectangle 12"/>
          <p:cNvSpPr/>
          <p:nvPr/>
        </p:nvSpPr>
        <p:spPr>
          <a:xfrm>
            <a:off x="8001000" y="3017520"/>
            <a:ext cx="3429000" cy="192024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3017520"/>
            <a:ext cx="64008" cy="1920240"/>
          </a:xfrm>
          <a:prstGeom prst="rect">
            <a:avLst/>
          </a:prstGeom>
          <a:solidFill>
            <a:srgbClr val="3F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3246120"/>
            <a:ext cx="3017520" cy="1554480"/>
          </a:xfrm>
          <a:prstGeom prst="rect">
            <a:avLst/>
          </a:prstGeom>
          <a:noFill/>
        </p:spPr>
        <p:txBody>
          <a:bodyPr wrap="square" lIns="0" rIns="0" tIns="0" bIns="0">
            <a:spAutoFit/>
          </a:bodyPr>
          <a:lstStyle/>
          <a:p>
            <a:pPr algn="l">
              <a:lnSpc>
                <a:spcPct val="115000"/>
              </a:lnSpc>
            </a:pPr>
            <a:r>
              <a:rPr sz="1700" b="1">
                <a:solidFill>
                  <a:srgbClr val="3F7A54"/>
                </a:solidFill>
                <a:latin typeface="Arial"/>
              </a:rPr>
              <a:t>Cle par createur</a:t>
            </a:r>
          </a:p>
          <a:p>
            <a:pPr algn="l">
              <a:lnSpc>
                <a:spcPct val="125000"/>
              </a:lnSpc>
              <a:spcBef>
                <a:spcPts val="700"/>
              </a:spcBef>
            </a:pPr>
            <a:r>
              <a:rPr sz="1350" b="0">
                <a:solidFill>
                  <a:srgbClr val="1E2838"/>
                </a:solidFill>
                <a:latin typeface="Arial"/>
              </a:rPr>
              <a:t>k_user = HKDF(k_master, identifiant).
L'attribution devient infalsifiable, non declarative.</a:t>
            </a:r>
          </a:p>
        </p:txBody>
      </p:sp>
      <p:sp>
        <p:nvSpPr>
          <p:cNvPr id="16" name="TextBox 15"/>
          <p:cNvSpPr txBox="1"/>
          <p:nvPr/>
        </p:nvSpPr>
        <p:spPr>
          <a:xfrm>
            <a:off x="685800" y="6172200"/>
            <a:ext cx="10881360" cy="502920"/>
          </a:xfrm>
          <a:prstGeom prst="rect">
            <a:avLst/>
          </a:prstGeom>
          <a:noFill/>
        </p:spPr>
        <p:txBody>
          <a:bodyPr wrap="square" lIns="0" rIns="0" tIns="0" bIns="0">
            <a:spAutoFit/>
          </a:bodyPr>
          <a:lstStyle/>
          <a:p>
            <a:pPr algn="l">
              <a:lnSpc>
                <a:spcPct val="115000"/>
              </a:lnSpc>
            </a:pPr>
            <a:r>
              <a:rPr sz="1250" b="0">
                <a:solidFill>
                  <a:srgbClr val="6B7482"/>
                </a:solidFill>
                <a:latin typeface="Arial"/>
              </a:rPr>
              <a:t>Ce que DistSeal grave une fois pour toutes, CipherMark le recalcule a chaque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ARCHITECTURE</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Trois couches, et une base de tracabilite</a:t>
            </a:r>
          </a:p>
        </p:txBody>
      </p:sp>
      <p:sp>
        <p:nvSpPr>
          <p:cNvPr id="5" name="Rectangle 4"/>
          <p:cNvSpPr/>
          <p:nvPr/>
        </p:nvSpPr>
        <p:spPr>
          <a:xfrm>
            <a:off x="685800" y="1783080"/>
            <a:ext cx="10789920" cy="1261872"/>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83080"/>
            <a:ext cx="82296" cy="1261872"/>
          </a:xfrm>
          <a:prstGeom prst="rect">
            <a:avLst/>
          </a:prstGeom>
          <a:solidFill>
            <a:srgbClr val="2E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47672"/>
            <a:ext cx="2377440" cy="457200"/>
          </a:xfrm>
          <a:prstGeom prst="rect">
            <a:avLst/>
          </a:prstGeom>
          <a:noFill/>
        </p:spPr>
        <p:txBody>
          <a:bodyPr wrap="square" lIns="0" rIns="0" tIns="0" bIns="0">
            <a:spAutoFit/>
          </a:bodyPr>
          <a:lstStyle/>
          <a:p>
            <a:pPr algn="l">
              <a:lnSpc>
                <a:spcPct val="115000"/>
              </a:lnSpc>
            </a:pPr>
            <a:r>
              <a:rPr sz="1600" b="1">
                <a:solidFill>
                  <a:srgbClr val="2E6F8E"/>
                </a:solidFill>
                <a:latin typeface="Arial"/>
              </a:rPr>
              <a:t>EMISSION</a:t>
            </a:r>
          </a:p>
        </p:txBody>
      </p:sp>
      <p:sp>
        <p:nvSpPr>
          <p:cNvPr id="8" name="TextBox 7"/>
          <p:cNvSpPr txBox="1"/>
          <p:nvPr/>
        </p:nvSpPr>
        <p:spPr>
          <a:xfrm>
            <a:off x="3566160" y="1965960"/>
            <a:ext cx="7680960" cy="914400"/>
          </a:xfrm>
          <a:prstGeom prst="rect">
            <a:avLst/>
          </a:prstGeom>
          <a:noFill/>
        </p:spPr>
        <p:txBody>
          <a:bodyPr wrap="square" lIns="0" rIns="0" tIns="0" bIns="0">
            <a:spAutoFit/>
          </a:bodyPr>
          <a:lstStyle/>
          <a:p>
            <a:pPr algn="l">
              <a:lnSpc>
                <a:spcPct val="125000"/>
              </a:lnSpc>
            </a:pPr>
            <a:r>
              <a:rPr sz="1500" b="0">
                <a:solidFill>
                  <a:srgbClr val="1E2838"/>
                </a:solidFill>
                <a:latin typeface="Arial"/>
              </a:rPr>
              <a:t>Le generateur produit le latent. Le decodeur, module par Ω,
rend une image DEJA tatouee.</a:t>
            </a:r>
          </a:p>
        </p:txBody>
      </p:sp>
      <p:sp>
        <p:nvSpPr>
          <p:cNvPr id="9" name="Rectangle 8"/>
          <p:cNvSpPr/>
          <p:nvPr/>
        </p:nvSpPr>
        <p:spPr>
          <a:xfrm>
            <a:off x="685800" y="3246120"/>
            <a:ext cx="10789920" cy="1261872"/>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3246120"/>
            <a:ext cx="82296" cy="1261872"/>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410712"/>
            <a:ext cx="2377440" cy="457200"/>
          </a:xfrm>
          <a:prstGeom prst="rect">
            <a:avLst/>
          </a:prstGeom>
          <a:noFill/>
        </p:spPr>
        <p:txBody>
          <a:bodyPr wrap="square" lIns="0" rIns="0" tIns="0" bIns="0">
            <a:spAutoFit/>
          </a:bodyPr>
          <a:lstStyle/>
          <a:p>
            <a:pPr algn="l">
              <a:lnSpc>
                <a:spcPct val="115000"/>
              </a:lnSpc>
            </a:pPr>
            <a:r>
              <a:rPr sz="1600" b="1">
                <a:solidFill>
                  <a:srgbClr val="C46A2E"/>
                </a:solidFill>
                <a:latin typeface="Arial"/>
              </a:rPr>
              <a:t>TRACABILITE</a:t>
            </a:r>
          </a:p>
        </p:txBody>
      </p:sp>
      <p:sp>
        <p:nvSpPr>
          <p:cNvPr id="12" name="TextBox 11"/>
          <p:cNvSpPr txBox="1"/>
          <p:nvPr/>
        </p:nvSpPr>
        <p:spPr>
          <a:xfrm>
            <a:off x="3566160" y="3429000"/>
            <a:ext cx="7680960" cy="914400"/>
          </a:xfrm>
          <a:prstGeom prst="rect">
            <a:avLst/>
          </a:prstGeom>
          <a:noFill/>
        </p:spPr>
        <p:txBody>
          <a:bodyPr wrap="square" lIns="0" rIns="0" tIns="0" bIns="0">
            <a:spAutoFit/>
          </a:bodyPr>
          <a:lstStyle/>
          <a:p>
            <a:pPr algn="l">
              <a:lnSpc>
                <a:spcPct val="125000"/>
              </a:lnSpc>
            </a:pPr>
            <a:r>
              <a:rPr sz="1500" b="0">
                <a:solidFill>
                  <a:srgbClr val="1E2838"/>
                </a:solidFill>
                <a:latin typeface="Arial"/>
              </a:rPr>
              <a:t>Une entree par generation : nonce, empreinte de reference,
createur. Aucun secret par utilisateur n'est stocke.</a:t>
            </a:r>
          </a:p>
        </p:txBody>
      </p:sp>
      <p:sp>
        <p:nvSpPr>
          <p:cNvPr id="13" name="Rectangle 12"/>
          <p:cNvSpPr/>
          <p:nvPr/>
        </p:nvSpPr>
        <p:spPr>
          <a:xfrm>
            <a:off x="685800" y="4709160"/>
            <a:ext cx="10789920" cy="1261872"/>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709160"/>
            <a:ext cx="82296" cy="1261872"/>
          </a:xfrm>
          <a:prstGeom prst="rect">
            <a:avLst/>
          </a:prstGeom>
          <a:solidFill>
            <a:srgbClr val="3F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73752"/>
            <a:ext cx="2377440" cy="457200"/>
          </a:xfrm>
          <a:prstGeom prst="rect">
            <a:avLst/>
          </a:prstGeom>
          <a:noFill/>
        </p:spPr>
        <p:txBody>
          <a:bodyPr wrap="square" lIns="0" rIns="0" tIns="0" bIns="0">
            <a:spAutoFit/>
          </a:bodyPr>
          <a:lstStyle/>
          <a:p>
            <a:pPr algn="l">
              <a:lnSpc>
                <a:spcPct val="115000"/>
              </a:lnSpc>
            </a:pPr>
            <a:r>
              <a:rPr sz="1600" b="1">
                <a:solidFill>
                  <a:srgbClr val="3F7A54"/>
                </a:solidFill>
                <a:latin typeface="Arial"/>
              </a:rPr>
              <a:t>VERIFICATION</a:t>
            </a:r>
          </a:p>
        </p:txBody>
      </p:sp>
      <p:sp>
        <p:nvSpPr>
          <p:cNvPr id="16" name="TextBox 15"/>
          <p:cNvSpPr txBox="1"/>
          <p:nvPr/>
        </p:nvSpPr>
        <p:spPr>
          <a:xfrm>
            <a:off x="3566160" y="4892040"/>
            <a:ext cx="7680960" cy="914400"/>
          </a:xfrm>
          <a:prstGeom prst="rect">
            <a:avLst/>
          </a:prstGeom>
          <a:noFill/>
        </p:spPr>
        <p:txBody>
          <a:bodyPr wrap="square" lIns="0" rIns="0" tIns="0" bIns="0">
            <a:spAutoFit/>
          </a:bodyPr>
          <a:lstStyle/>
          <a:p>
            <a:pPr algn="l">
              <a:lnSpc>
                <a:spcPct val="125000"/>
              </a:lnSpc>
            </a:pPr>
            <a:r>
              <a:rPr sz="1500" b="0">
                <a:solidFill>
                  <a:srgbClr val="1E2838"/>
                </a:solidFill>
                <a:latin typeface="Arial"/>
              </a:rPr>
              <a:t>L'extracteur relit Ω, le registre donne le createur,
sa cle est REDERIVEE, le verdict tombe.</a:t>
            </a:r>
          </a:p>
        </p:txBody>
      </p:sp>
      <p:sp>
        <p:nvSpPr>
          <p:cNvPr id="17" name="TextBox 16"/>
          <p:cNvSpPr txBox="1"/>
          <p:nvPr/>
        </p:nvSpPr>
        <p:spPr>
          <a:xfrm>
            <a:off x="685800" y="6172200"/>
            <a:ext cx="10881360" cy="502920"/>
          </a:xfrm>
          <a:prstGeom prst="rect">
            <a:avLst/>
          </a:prstGeom>
          <a:noFill/>
        </p:spPr>
        <p:txBody>
          <a:bodyPr wrap="square" lIns="0" rIns="0" tIns="0" bIns="0">
            <a:spAutoFit/>
          </a:bodyPr>
          <a:lstStyle/>
          <a:p>
            <a:pPr algn="l">
              <a:lnSpc>
                <a:spcPct val="115000"/>
              </a:lnSpc>
            </a:pPr>
            <a:r>
              <a:rPr sz="1250" b="0">
                <a:solidFill>
                  <a:srgbClr val="6B7482"/>
                </a:solidFill>
                <a:latin typeface="Arial"/>
              </a:rPr>
              <a:t>Le verifieur ne connait rien a l'avance : il lit le nonce, consulte le registre, et rederive la cle du createur enregistre.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LE MECANISME, HERITE DE WOUAF</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Ω module les poids du decodeur : le tatouage naît avec l'image</a:t>
            </a:r>
          </a:p>
        </p:txBody>
      </p:sp>
      <p:sp>
        <p:nvSpPr>
          <p:cNvPr id="5" name="Rectangle 4"/>
          <p:cNvSpPr/>
          <p:nvPr/>
        </p:nvSpPr>
        <p:spPr>
          <a:xfrm>
            <a:off x="685800" y="1783080"/>
            <a:ext cx="10789920" cy="868680"/>
          </a:xfrm>
          <a:prstGeom prst="rect">
            <a:avLst/>
          </a:prstGeom>
          <a:solidFill>
            <a:srgbClr val="FFFFFF"/>
          </a:solidFill>
          <a:ln w="19050">
            <a:solidFill>
              <a:srgbClr val="2E6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32720" cy="457200"/>
          </a:xfrm>
          <a:prstGeom prst="rect">
            <a:avLst/>
          </a:prstGeom>
          <a:noFill/>
        </p:spPr>
        <p:txBody>
          <a:bodyPr wrap="square" lIns="0" rIns="0" tIns="0" bIns="0">
            <a:spAutoFit/>
          </a:bodyPr>
          <a:lstStyle/>
          <a:p>
            <a:pPr algn="ctr">
              <a:lnSpc>
                <a:spcPct val="115000"/>
              </a:lnSpc>
            </a:pPr>
            <a:r>
              <a:rPr sz="2300" b="1">
                <a:solidFill>
                  <a:srgbClr val="141F33"/>
                </a:solidFill>
                <a:latin typeface="Arial"/>
              </a:rPr>
              <a:t>activation  ←  activation ⊙ (1 + γ(Ω))  +  β(Ω)</a:t>
            </a:r>
          </a:p>
        </p:txBody>
      </p:sp>
      <p:sp>
        <p:nvSpPr>
          <p:cNvPr id="7" name="TextBox 6"/>
          <p:cNvSpPr txBox="1"/>
          <p:nvPr/>
        </p:nvSpPr>
        <p:spPr>
          <a:xfrm>
            <a:off x="685800" y="2834640"/>
            <a:ext cx="6583680" cy="4572000"/>
          </a:xfrm>
          <a:prstGeom prst="rect">
            <a:avLst/>
          </a:prstGeom>
          <a:noFill/>
        </p:spPr>
        <p:txBody>
          <a:bodyPr wrap="square" lIns="0" rIns="0" tIns="0" bIns="0">
            <a:spAutoFit/>
          </a:bodyPr>
          <a:lstStyle/>
          <a:p>
            <a:pPr>
              <a:lnSpc>
                <a:spcPct val="125000"/>
              </a:lnSpc>
            </a:pPr>
            <a:r>
              <a:rPr sz="1550">
                <a:solidFill>
                  <a:srgbClr val="C46A2E"/>
                </a:solidFill>
                <a:latin typeface="Arial"/>
              </a:rPr>
              <a:t>▸  </a:t>
            </a:r>
            <a:r>
              <a:rPr sz="1550" b="1">
                <a:solidFill>
                  <a:srgbClr val="1E2838"/>
                </a:solidFill>
                <a:latin typeface="Arial"/>
              </a:rPr>
              <a:t>Identite exacte a l'initialisation :</a:t>
            </a:r>
            <a:r>
              <a:rPr sz="1550">
                <a:solidFill>
                  <a:srgbClr val="1E2838"/>
                </a:solidFill>
                <a:latin typeface="Arial"/>
              </a:rPr>
              <a:t> les tetes γ et β sont initialisees a zero, donc le decodeur conditionne demarre identique au decodeur d'origine.</a:t>
            </a:r>
          </a:p>
          <a:p>
            <a:pPr>
              <a:lnSpc>
                <a:spcPct val="125000"/>
              </a:lnSpc>
              <a:spcBef>
                <a:spcPts val="1300"/>
              </a:spcBef>
            </a:pPr>
            <a:r>
              <a:rPr sz="1550">
                <a:solidFill>
                  <a:srgbClr val="C46A2E"/>
                </a:solidFill>
                <a:latin typeface="Arial"/>
              </a:rPr>
              <a:t>▸  </a:t>
            </a:r>
            <a:r>
              <a:rPr sz="1550" b="1">
                <a:solidFill>
                  <a:srgbClr val="1E2838"/>
                </a:solidFill>
                <a:latin typeface="Arial"/>
              </a:rPr>
              <a:t>Modulation bornee</a:t>
            </a:r>
            <a:r>
              <a:rPr sz="1550">
                <a:solidFill>
                  <a:srgbClr val="1E2838"/>
                </a:solidFill>
                <a:latin typeface="Arial"/>
              </a:rPr>
              <a:t> (γ ≤ 0,3 ; β ≤ 0,1), la ou WOUAF demodule. La degradation devient impossible au-dela d'un seuil connu.</a:t>
            </a:r>
          </a:p>
          <a:p>
            <a:pPr>
              <a:lnSpc>
                <a:spcPct val="125000"/>
              </a:lnSpc>
              <a:spcBef>
                <a:spcPts val="1300"/>
              </a:spcBef>
            </a:pPr>
            <a:r>
              <a:rPr sz="1550">
                <a:solidFill>
                  <a:srgbClr val="C46A2E"/>
                </a:solidFill>
                <a:latin typeface="Arial"/>
              </a:rPr>
              <a:t>▸  </a:t>
            </a:r>
            <a:r>
              <a:rPr sz="1550" b="1">
                <a:solidFill>
                  <a:srgbClr val="1E2838"/>
                </a:solidFill>
                <a:latin typeface="Arial"/>
              </a:rPr>
              <a:t>Ω change a chaque generation</a:t>
            </a:r>
            <a:r>
              <a:rPr sz="1550">
                <a:solidFill>
                  <a:srgbClr val="1E2838"/>
                </a:solidFill>
                <a:latin typeface="Arial"/>
              </a:rPr>
              <a:t> sans reentrainer le modele : c'est ce que le message fixe de DistSeal interdisait.</a:t>
            </a:r>
          </a:p>
        </p:txBody>
      </p:sp>
      <p:sp>
        <p:nvSpPr>
          <p:cNvPr id="8" name="Rectangle 7"/>
          <p:cNvSpPr/>
          <p:nvPr/>
        </p:nvSpPr>
        <p:spPr>
          <a:xfrm>
            <a:off x="7635240" y="2880360"/>
            <a:ext cx="1874519" cy="137160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3081528"/>
            <a:ext cx="1600199" cy="1005840"/>
          </a:xfrm>
          <a:prstGeom prst="rect">
            <a:avLst/>
          </a:prstGeom>
          <a:noFill/>
        </p:spPr>
        <p:txBody>
          <a:bodyPr wrap="square" lIns="0" rIns="0" tIns="0" bIns="0">
            <a:spAutoFit/>
          </a:bodyPr>
          <a:lstStyle/>
          <a:p>
            <a:pPr algn="ctr">
              <a:lnSpc>
                <a:spcPct val="115000"/>
              </a:lnSpc>
            </a:pPr>
            <a:r>
              <a:rPr sz="3400" b="1">
                <a:solidFill>
                  <a:srgbClr val="2E6F8E"/>
                </a:solidFill>
                <a:latin typeface="Arial"/>
              </a:rPr>
              <a:t>6</a:t>
            </a:r>
          </a:p>
          <a:p>
            <a:pPr algn="ctr">
              <a:lnSpc>
                <a:spcPct val="105000"/>
              </a:lnSpc>
              <a:spcBef>
                <a:spcPts val="400"/>
              </a:spcBef>
            </a:pPr>
            <a:r>
              <a:rPr sz="1200" b="0">
                <a:solidFill>
                  <a:srgbClr val="6B7482"/>
                </a:solidFill>
                <a:latin typeface="Arial"/>
              </a:rPr>
              <a:t>etages modules
(DC-AE)</a:t>
            </a:r>
          </a:p>
        </p:txBody>
      </p:sp>
      <p:sp>
        <p:nvSpPr>
          <p:cNvPr id="10" name="Rectangle 9"/>
          <p:cNvSpPr/>
          <p:nvPr/>
        </p:nvSpPr>
        <p:spPr>
          <a:xfrm>
            <a:off x="9692640" y="2880360"/>
            <a:ext cx="1874519" cy="137160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29800" y="3081528"/>
            <a:ext cx="1600199" cy="1005840"/>
          </a:xfrm>
          <a:prstGeom prst="rect">
            <a:avLst/>
          </a:prstGeom>
          <a:noFill/>
        </p:spPr>
        <p:txBody>
          <a:bodyPr wrap="square" lIns="0" rIns="0" tIns="0" bIns="0">
            <a:spAutoFit/>
          </a:bodyPr>
          <a:lstStyle/>
          <a:p>
            <a:pPr algn="ctr">
              <a:lnSpc>
                <a:spcPct val="115000"/>
              </a:lnSpc>
            </a:pPr>
            <a:r>
              <a:rPr sz="3400" b="1">
                <a:solidFill>
                  <a:srgbClr val="A83B3B"/>
                </a:solidFill>
                <a:latin typeface="Arial"/>
              </a:rPr>
              <a:t>3</a:t>
            </a:r>
          </a:p>
          <a:p>
            <a:pPr algn="ctr">
              <a:lnSpc>
                <a:spcPct val="105000"/>
              </a:lnSpc>
              <a:spcBef>
                <a:spcPts val="400"/>
              </a:spcBef>
            </a:pPr>
            <a:r>
              <a:rPr sz="1200" b="0">
                <a:solidFill>
                  <a:srgbClr val="6B7482"/>
                </a:solidFill>
                <a:latin typeface="Arial"/>
              </a:rPr>
              <a:t>etages modules
(MaskGIT)</a:t>
            </a:r>
          </a:p>
        </p:txBody>
      </p:sp>
      <p:sp>
        <p:nvSpPr>
          <p:cNvPr id="12" name="TextBox 11"/>
          <p:cNvSpPr txBox="1"/>
          <p:nvPr/>
        </p:nvSpPr>
        <p:spPr>
          <a:xfrm>
            <a:off x="7635240" y="4526280"/>
            <a:ext cx="3931920" cy="1280160"/>
          </a:xfrm>
          <a:prstGeom prst="rect">
            <a:avLst/>
          </a:prstGeom>
          <a:noFill/>
        </p:spPr>
        <p:txBody>
          <a:bodyPr wrap="square" lIns="0" rIns="0" tIns="0" bIns="0">
            <a:spAutoFit/>
          </a:bodyPr>
          <a:lstStyle/>
          <a:p>
            <a:pPr algn="l">
              <a:lnSpc>
                <a:spcPct val="125000"/>
              </a:lnSpc>
            </a:pPr>
            <a:r>
              <a:rPr sz="1400" b="0">
                <a:solidFill>
                  <a:srgbClr val="1E2838"/>
                </a:solidFill>
                <a:latin typeface="Arial"/>
              </a:rPr>
              <a:t>Cet ecart de prises explique a lui seul la difference de robustesse entre les deux familles.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METHODOLOGIE</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Ce qui a ete mesure, et comment</a:t>
            </a:r>
          </a:p>
        </p:txBody>
      </p:sp>
      <p:sp>
        <p:nvSpPr>
          <p:cNvPr id="5" name="Rectangle 4"/>
          <p:cNvSpPr/>
          <p:nvPr/>
        </p:nvSpPr>
        <p:spPr>
          <a:xfrm>
            <a:off x="685800" y="1828800"/>
            <a:ext cx="251460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29968"/>
            <a:ext cx="2240280" cy="1143000"/>
          </a:xfrm>
          <a:prstGeom prst="rect">
            <a:avLst/>
          </a:prstGeom>
          <a:noFill/>
        </p:spPr>
        <p:txBody>
          <a:bodyPr wrap="square" lIns="0" rIns="0" tIns="0" bIns="0">
            <a:spAutoFit/>
          </a:bodyPr>
          <a:lstStyle/>
          <a:p>
            <a:pPr algn="ctr">
              <a:lnSpc>
                <a:spcPct val="115000"/>
              </a:lnSpc>
            </a:pPr>
            <a:r>
              <a:rPr sz="3400" b="1">
                <a:solidFill>
                  <a:srgbClr val="2E6F8E"/>
                </a:solidFill>
                <a:latin typeface="Arial"/>
              </a:rPr>
              <a:t>3</a:t>
            </a:r>
          </a:p>
          <a:p>
            <a:pPr algn="ctr">
              <a:lnSpc>
                <a:spcPct val="105000"/>
              </a:lnSpc>
              <a:spcBef>
                <a:spcPts val="400"/>
              </a:spcBef>
            </a:pPr>
            <a:r>
              <a:rPr sz="1200" b="0">
                <a:solidFill>
                  <a:srgbClr val="6B7482"/>
                </a:solidFill>
                <a:latin typeface="Arial"/>
              </a:rPr>
              <a:t>canaux d'inscription
evalues separement</a:t>
            </a:r>
          </a:p>
        </p:txBody>
      </p:sp>
      <p:sp>
        <p:nvSpPr>
          <p:cNvPr id="7" name="Rectangle 6"/>
          <p:cNvSpPr/>
          <p:nvPr/>
        </p:nvSpPr>
        <p:spPr>
          <a:xfrm>
            <a:off x="3447288" y="1828800"/>
            <a:ext cx="251460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4448" y="2029968"/>
            <a:ext cx="2240280" cy="1143000"/>
          </a:xfrm>
          <a:prstGeom prst="rect">
            <a:avLst/>
          </a:prstGeom>
          <a:noFill/>
        </p:spPr>
        <p:txBody>
          <a:bodyPr wrap="square" lIns="0" rIns="0" tIns="0" bIns="0">
            <a:spAutoFit/>
          </a:bodyPr>
          <a:lstStyle/>
          <a:p>
            <a:pPr algn="ctr">
              <a:lnSpc>
                <a:spcPct val="115000"/>
              </a:lnSpc>
            </a:pPr>
            <a:r>
              <a:rPr sz="3400" b="1">
                <a:solidFill>
                  <a:srgbClr val="C46A2E"/>
                </a:solidFill>
                <a:latin typeface="Arial"/>
              </a:rPr>
              <a:t>20</a:t>
            </a:r>
          </a:p>
          <a:p>
            <a:pPr algn="ctr">
              <a:lnSpc>
                <a:spcPct val="105000"/>
              </a:lnSpc>
              <a:spcBef>
                <a:spcPts val="400"/>
              </a:spcBef>
            </a:pPr>
            <a:r>
              <a:rPr sz="1200" b="0">
                <a:solidFill>
                  <a:srgbClr val="6B7482"/>
                </a:solidFill>
                <a:latin typeface="Arial"/>
              </a:rPr>
              <a:t>conditions : 19 attaques
+ la reference</a:t>
            </a:r>
          </a:p>
        </p:txBody>
      </p:sp>
      <p:sp>
        <p:nvSpPr>
          <p:cNvPr id="9" name="Rectangle 8"/>
          <p:cNvSpPr/>
          <p:nvPr/>
        </p:nvSpPr>
        <p:spPr>
          <a:xfrm>
            <a:off x="6208776" y="1828800"/>
            <a:ext cx="251460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2029968"/>
            <a:ext cx="2240280" cy="1143000"/>
          </a:xfrm>
          <a:prstGeom prst="rect">
            <a:avLst/>
          </a:prstGeom>
          <a:noFill/>
        </p:spPr>
        <p:txBody>
          <a:bodyPr wrap="square" lIns="0" rIns="0" tIns="0" bIns="0">
            <a:spAutoFit/>
          </a:bodyPr>
          <a:lstStyle/>
          <a:p>
            <a:pPr algn="ctr">
              <a:lnSpc>
                <a:spcPct val="115000"/>
              </a:lnSpc>
            </a:pPr>
            <a:r>
              <a:rPr sz="3400" b="1">
                <a:solidFill>
                  <a:srgbClr val="3F7A54"/>
                </a:solidFill>
                <a:latin typeface="Arial"/>
              </a:rPr>
              <a:t>5 000</a:t>
            </a:r>
          </a:p>
          <a:p>
            <a:pPr algn="ctr">
              <a:lnSpc>
                <a:spcPct val="105000"/>
              </a:lnSpc>
              <a:spcBef>
                <a:spcPts val="400"/>
              </a:spcBef>
            </a:pPr>
            <a:r>
              <a:rPr sz="1200" b="0">
                <a:solidFill>
                  <a:srgbClr val="6B7482"/>
                </a:solidFill>
                <a:latin typeface="Arial"/>
              </a:rPr>
              <a:t>images par canal,
jamais vues a l'entrainement</a:t>
            </a:r>
          </a:p>
        </p:txBody>
      </p:sp>
      <p:sp>
        <p:nvSpPr>
          <p:cNvPr id="11" name="Rectangle 10"/>
          <p:cNvSpPr/>
          <p:nvPr/>
        </p:nvSpPr>
        <p:spPr>
          <a:xfrm>
            <a:off x="8970264" y="1828800"/>
            <a:ext cx="251460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7424" y="2029968"/>
            <a:ext cx="2240280" cy="1143000"/>
          </a:xfrm>
          <a:prstGeom prst="rect">
            <a:avLst/>
          </a:prstGeom>
          <a:noFill/>
        </p:spPr>
        <p:txBody>
          <a:bodyPr wrap="square" lIns="0" rIns="0" tIns="0" bIns="0">
            <a:spAutoFit/>
          </a:bodyPr>
          <a:lstStyle/>
          <a:p>
            <a:pPr algn="ctr">
              <a:lnSpc>
                <a:spcPct val="115000"/>
              </a:lnSpc>
            </a:pPr>
            <a:r>
              <a:rPr sz="3400" b="1">
                <a:solidFill>
                  <a:srgbClr val="141F33"/>
                </a:solidFill>
                <a:latin typeface="Arial"/>
              </a:rPr>
              <a:t>300 000</a:t>
            </a:r>
          </a:p>
          <a:p>
            <a:pPr algn="ctr">
              <a:lnSpc>
                <a:spcPct val="105000"/>
              </a:lnSpc>
              <a:spcBef>
                <a:spcPts val="400"/>
              </a:spcBef>
            </a:pPr>
            <a:r>
              <a:rPr sz="1200" b="0">
                <a:solidFill>
                  <a:srgbClr val="6B7482"/>
                </a:solidFill>
                <a:latin typeface="Arial"/>
              </a:rPr>
              <a:t>verifications
au total</a:t>
            </a:r>
          </a:p>
        </p:txBody>
      </p:sp>
      <p:sp>
        <p:nvSpPr>
          <p:cNvPr id="13" name="TextBox 12"/>
          <p:cNvSpPr txBox="1"/>
          <p:nvPr/>
        </p:nvSpPr>
        <p:spPr>
          <a:xfrm>
            <a:off x="685800" y="3520440"/>
            <a:ext cx="10789920" cy="2377440"/>
          </a:xfrm>
          <a:prstGeom prst="rect">
            <a:avLst/>
          </a:prstGeom>
          <a:noFill/>
        </p:spPr>
        <p:txBody>
          <a:bodyPr wrap="square" lIns="0" rIns="0" tIns="0" bIns="0">
            <a:spAutoFit/>
          </a:bodyPr>
          <a:lstStyle/>
          <a:p>
            <a:pPr algn="l">
              <a:lnSpc>
                <a:spcPct val="115000"/>
              </a:lnSpc>
            </a:pPr>
            <a:r>
              <a:rPr sz="1600" b="1">
                <a:solidFill>
                  <a:srgbClr val="141F33"/>
                </a:solidFill>
                <a:latin typeface="Arial"/>
              </a:rPr>
              <a:t>Les vingt conditions du protocole de DistSeal</a:t>
            </a:r>
          </a:p>
          <a:p>
            <a:pPr algn="l">
              <a:lnSpc>
                <a:spcPct val="135000"/>
              </a:lnSpc>
              <a:spcBef>
                <a:spcPts val="800"/>
              </a:spcBef>
            </a:pPr>
            <a:r>
              <a:rPr sz="1500" b="0">
                <a:solidFill>
                  <a:srgbClr val="1E2838"/>
                </a:solidFill>
                <a:latin typeface="Arial"/>
              </a:rPr>
              <a:t>JPEG Q = 90, 70, 50, 30   ·   flou gaussien k = 3, 5, 7   ·   reechantillonnage 0,75 et 0,5   ·   recadrage 90, 70, 50 %   ·   luminosite et contraste x0,8 et x1,2   ·   bruit σ = 0,02, 0,05, 0,10</a:t>
            </a:r>
          </a:p>
          <a:p>
            <a:pPr algn="l">
              <a:lnSpc>
                <a:spcPct val="130000"/>
              </a:lnSpc>
              <a:spcBef>
                <a:spcPts val="1000"/>
              </a:spcBef>
            </a:pPr>
            <a:r>
              <a:rPr sz="1450" b="0">
                <a:solidFill>
                  <a:srgbClr val="6B7482"/>
                </a:solidFill>
                <a:latin typeface="Arial"/>
              </a:rPr>
              <a:t>Parametres FIXES et non tires au hasard : les chiffres sont reproductibles d'une execution a l'autre. Deux controles negatifs accompagnent chaque mesure.</a:t>
            </a:r>
          </a:p>
        </p:txBody>
      </p:sp>
      <p:sp>
        <p:nvSpPr>
          <p:cNvPr id="14" name="TextBox 13"/>
          <p:cNvSpPr txBox="1"/>
          <p:nvPr/>
        </p:nvSpPr>
        <p:spPr>
          <a:xfrm>
            <a:off x="685800" y="6172200"/>
            <a:ext cx="10881360" cy="502920"/>
          </a:xfrm>
          <a:prstGeom prst="rect">
            <a:avLst/>
          </a:prstGeom>
          <a:noFill/>
        </p:spPr>
        <p:txBody>
          <a:bodyPr wrap="square" lIns="0" rIns="0" tIns="0" bIns="0">
            <a:spAutoFit/>
          </a:bodyPr>
          <a:lstStyle/>
          <a:p>
            <a:pPr algn="l">
              <a:lnSpc>
                <a:spcPct val="115000"/>
              </a:lnSpc>
            </a:pPr>
            <a:r>
              <a:rPr sz="1250" b="0">
                <a:solidFill>
                  <a:srgbClr val="6B7482"/>
                </a:solidFill>
                <a:latin typeface="Arial"/>
              </a:rPr>
              <a:t>Meme protocole, memes parametres, meme echelle pour les trois canaux : c'est ce qui rend la comparaison possible.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RESULTAT 1 SUR 4</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Le couple embedder / extracteur en espace pixel</a:t>
            </a:r>
          </a:p>
        </p:txBody>
      </p:sp>
      <p:graphicFrame>
        <p:nvGraphicFramePr>
          <p:cNvPr id="5" name="Table 4"/>
          <p:cNvGraphicFramePr>
            <a:graphicFrameLocks noGrp="1"/>
          </p:cNvGraphicFramePr>
          <p:nvPr/>
        </p:nvGraphicFramePr>
        <p:xfrm>
          <a:off x="685800" y="1874519"/>
          <a:ext cx="6035040" cy="2377440"/>
        </p:xfrm>
        <a:graphic>
          <a:graphicData uri="http://schemas.openxmlformats.org/drawingml/2006/table">
            <a:tbl>
              <a:tblPr firstRow="1" bandRow="1">
                <a:tableStyleId>{5C22544A-7EE6-4342-B048-85BDC9FD1C3A}</a:tableStyleId>
              </a:tblPr>
              <a:tblGrid>
                <a:gridCol w="2743200"/>
                <a:gridCol w="1645920"/>
                <a:gridCol w="1645920"/>
              </a:tblGrid>
              <a:tr h="396240">
                <a:tc>
                  <a:txBody>
                    <a:bodyPr/>
                    <a:lstStyle/>
                    <a:p>
                      <a:pPr algn="l"/>
                      <a:r>
                        <a:rPr sz="1400" b="1">
                          <a:solidFill>
                            <a:srgbClr val="F7F6F2"/>
                          </a:solidFill>
                          <a:latin typeface="Arial"/>
                        </a:rPr>
                        <a:t>Condition</a:t>
                      </a:r>
                    </a:p>
                  </a:txBody>
                  <a:tcPr>
                    <a:solidFill>
                      <a:srgbClr val="141F33"/>
                    </a:solidFill>
                  </a:tcPr>
                </a:tc>
                <a:tc>
                  <a:txBody>
                    <a:bodyPr/>
                    <a:lstStyle/>
                    <a:p>
                      <a:pPr algn="ctr"/>
                      <a:r>
                        <a:rPr sz="1400" b="1">
                          <a:solidFill>
                            <a:srgbClr val="F7F6F2"/>
                          </a:solidFill>
                          <a:latin typeface="Arial"/>
                        </a:rPr>
                        <a:t>Verdicts</a:t>
                      </a:r>
                    </a:p>
                  </a:txBody>
                  <a:tcPr>
                    <a:solidFill>
                      <a:srgbClr val="141F33"/>
                    </a:solidFill>
                  </a:tcPr>
                </a:tc>
                <a:tc>
                  <a:txBody>
                    <a:bodyPr/>
                    <a:lstStyle/>
                    <a:p>
                      <a:pPr algn="ctr"/>
                      <a:r>
                        <a:rPr sz="1400" b="1">
                          <a:solidFill>
                            <a:srgbClr val="F7F6F2"/>
                          </a:solidFill>
                          <a:latin typeface="Arial"/>
                        </a:rPr>
                        <a:t>Bits relus</a:t>
                      </a:r>
                    </a:p>
                  </a:txBody>
                  <a:tcPr>
                    <a:solidFill>
                      <a:srgbClr val="141F33"/>
                    </a:solidFill>
                  </a:tcPr>
                </a:tc>
              </a:tr>
              <a:tr h="396240">
                <a:tc>
                  <a:txBody>
                    <a:bodyPr/>
                    <a:lstStyle/>
                    <a:p>
                      <a:pPr algn="l"/>
                      <a:r>
                        <a:rPr sz="1400" b="1">
                          <a:solidFill>
                            <a:srgbClr val="1E2838"/>
                          </a:solidFill>
                          <a:latin typeface="Arial"/>
                        </a:rPr>
                        <a:t>Sans attaque</a:t>
                      </a:r>
                    </a:p>
                  </a:txBody>
                  <a:tcPr>
                    <a:solidFill>
                      <a:srgbClr val="FFFFFF"/>
                    </a:solidFill>
                  </a:tcPr>
                </a:tc>
                <a:tc>
                  <a:txBody>
                    <a:bodyPr/>
                    <a:lstStyle/>
                    <a:p>
                      <a:pPr algn="ctr"/>
                      <a:r>
                        <a:rPr sz="1400">
                          <a:solidFill>
                            <a:srgbClr val="1E2838"/>
                          </a:solidFill>
                          <a:latin typeface="Arial"/>
                        </a:rPr>
                        <a:t>99.8 %</a:t>
                      </a:r>
                    </a:p>
                  </a:txBody>
                  <a:tcPr>
                    <a:solidFill>
                      <a:srgbClr val="FFFFFF"/>
                    </a:solidFill>
                  </a:tcPr>
                </a:tc>
                <a:tc>
                  <a:txBody>
                    <a:bodyPr/>
                    <a:lstStyle/>
                    <a:p>
                      <a:pPr algn="ctr"/>
                      <a:r>
                        <a:rPr sz="1400">
                          <a:solidFill>
                            <a:srgbClr val="1E2838"/>
                          </a:solidFill>
                          <a:latin typeface="Arial"/>
                        </a:rPr>
                        <a:t>0.9995</a:t>
                      </a:r>
                    </a:p>
                  </a:txBody>
                  <a:tcPr>
                    <a:solidFill>
                      <a:srgbClr val="FFFFFF"/>
                    </a:solidFill>
                  </a:tcPr>
                </a:tc>
              </a:tr>
              <a:tr h="396240">
                <a:tc>
                  <a:txBody>
                    <a:bodyPr/>
                    <a:lstStyle/>
                    <a:p>
                      <a:pPr algn="l"/>
                      <a:r>
                        <a:rPr sz="1400" b="1">
                          <a:solidFill>
                            <a:srgbClr val="1E2838"/>
                          </a:solidFill>
                          <a:latin typeface="Arial"/>
                        </a:rPr>
                        <a:t>JPEG Q = 30</a:t>
                      </a:r>
                    </a:p>
                  </a:txBody>
                  <a:tcPr>
                    <a:solidFill>
                      <a:srgbClr val="EFEDE7"/>
                    </a:solidFill>
                  </a:tcPr>
                </a:tc>
                <a:tc>
                  <a:txBody>
                    <a:bodyPr/>
                    <a:lstStyle/>
                    <a:p>
                      <a:pPr algn="ctr"/>
                      <a:r>
                        <a:rPr sz="1400">
                          <a:solidFill>
                            <a:srgbClr val="1E2838"/>
                          </a:solidFill>
                          <a:latin typeface="Arial"/>
                        </a:rPr>
                        <a:t>95.8 %</a:t>
                      </a:r>
                    </a:p>
                  </a:txBody>
                  <a:tcPr>
                    <a:solidFill>
                      <a:srgbClr val="EFEDE7"/>
                    </a:solidFill>
                  </a:tcPr>
                </a:tc>
                <a:tc>
                  <a:txBody>
                    <a:bodyPr/>
                    <a:lstStyle/>
                    <a:p>
                      <a:pPr algn="ctr"/>
                      <a:r>
                        <a:rPr sz="1400">
                          <a:solidFill>
                            <a:srgbClr val="1E2838"/>
                          </a:solidFill>
                          <a:latin typeface="Arial"/>
                        </a:rPr>
                        <a:t>0.9991</a:t>
                      </a:r>
                    </a:p>
                  </a:txBody>
                  <a:tcPr>
                    <a:solidFill>
                      <a:srgbClr val="EFEDE7"/>
                    </a:solidFill>
                  </a:tcPr>
                </a:tc>
              </a:tr>
              <a:tr h="396240">
                <a:tc>
                  <a:txBody>
                    <a:bodyPr/>
                    <a:lstStyle/>
                    <a:p>
                      <a:pPr algn="l"/>
                      <a:r>
                        <a:rPr sz="1400" b="1">
                          <a:solidFill>
                            <a:srgbClr val="1E2838"/>
                          </a:solidFill>
                          <a:latin typeface="Arial"/>
                        </a:rPr>
                        <a:t>Bruit σ = 0,1</a:t>
                      </a:r>
                    </a:p>
                  </a:txBody>
                  <a:tcPr>
                    <a:solidFill>
                      <a:srgbClr val="FFFFFF"/>
                    </a:solidFill>
                  </a:tcPr>
                </a:tc>
                <a:tc>
                  <a:txBody>
                    <a:bodyPr/>
                    <a:lstStyle/>
                    <a:p>
                      <a:pPr algn="ctr"/>
                      <a:r>
                        <a:rPr sz="1400">
                          <a:solidFill>
                            <a:srgbClr val="1E2838"/>
                          </a:solidFill>
                          <a:latin typeface="Arial"/>
                        </a:rPr>
                        <a:t>86.6 %</a:t>
                      </a:r>
                    </a:p>
                  </a:txBody>
                  <a:tcPr>
                    <a:solidFill>
                      <a:srgbClr val="FFFFFF"/>
                    </a:solidFill>
                  </a:tcPr>
                </a:tc>
                <a:tc>
                  <a:txBody>
                    <a:bodyPr/>
                    <a:lstStyle/>
                    <a:p>
                      <a:pPr algn="ctr"/>
                      <a:r>
                        <a:rPr sz="1400">
                          <a:solidFill>
                            <a:srgbClr val="1E2838"/>
                          </a:solidFill>
                          <a:latin typeface="Arial"/>
                        </a:rPr>
                        <a:t>0.9973</a:t>
                      </a:r>
                    </a:p>
                  </a:txBody>
                  <a:tcPr>
                    <a:solidFill>
                      <a:srgbClr val="FFFFFF"/>
                    </a:solidFill>
                  </a:tcPr>
                </a:tc>
              </a:tr>
              <a:tr h="396240">
                <a:tc>
                  <a:txBody>
                    <a:bodyPr/>
                    <a:lstStyle/>
                    <a:p>
                      <a:pPr algn="l"/>
                      <a:r>
                        <a:rPr sz="1400" b="1">
                          <a:solidFill>
                            <a:srgbClr val="1E2838"/>
                          </a:solidFill>
                          <a:latin typeface="Arial"/>
                        </a:rPr>
                        <a:t>Flou k = 7</a:t>
                      </a:r>
                    </a:p>
                  </a:txBody>
                  <a:tcPr>
                    <a:solidFill>
                      <a:srgbClr val="EFEDE7"/>
                    </a:solidFill>
                  </a:tcPr>
                </a:tc>
                <a:tc>
                  <a:txBody>
                    <a:bodyPr/>
                    <a:lstStyle/>
                    <a:p>
                      <a:pPr algn="ctr"/>
                      <a:r>
                        <a:rPr sz="1400">
                          <a:solidFill>
                            <a:srgbClr val="1E2838"/>
                          </a:solidFill>
                          <a:latin typeface="Arial"/>
                        </a:rPr>
                        <a:t>70.7 %</a:t>
                      </a:r>
                    </a:p>
                  </a:txBody>
                  <a:tcPr>
                    <a:solidFill>
                      <a:srgbClr val="EFEDE7"/>
                    </a:solidFill>
                  </a:tcPr>
                </a:tc>
                <a:tc>
                  <a:txBody>
                    <a:bodyPr/>
                    <a:lstStyle/>
                    <a:p>
                      <a:pPr algn="ctr"/>
                      <a:r>
                        <a:rPr sz="1400">
                          <a:solidFill>
                            <a:srgbClr val="1E2838"/>
                          </a:solidFill>
                          <a:latin typeface="Arial"/>
                        </a:rPr>
                        <a:t>0.9193</a:t>
                      </a:r>
                    </a:p>
                  </a:txBody>
                  <a:tcPr>
                    <a:solidFill>
                      <a:srgbClr val="EFEDE7"/>
                    </a:solidFill>
                  </a:tcPr>
                </a:tc>
              </a:tr>
              <a:tr h="396240">
                <a:tc>
                  <a:txBody>
                    <a:bodyPr/>
                    <a:lstStyle/>
                    <a:p>
                      <a:pPr algn="l"/>
                      <a:r>
                        <a:rPr sz="1400" b="1">
                          <a:solidFill>
                            <a:srgbClr val="1E2838"/>
                          </a:solidFill>
                          <a:latin typeface="Arial"/>
                        </a:rPr>
                        <a:t>Recadrage 90 %</a:t>
                      </a:r>
                    </a:p>
                  </a:txBody>
                  <a:tcPr>
                    <a:solidFill>
                      <a:srgbClr val="FFFFFF"/>
                    </a:solidFill>
                  </a:tcPr>
                </a:tc>
                <a:tc>
                  <a:txBody>
                    <a:bodyPr/>
                    <a:lstStyle/>
                    <a:p>
                      <a:pPr algn="ctr"/>
                      <a:r>
                        <a:rPr sz="1400">
                          <a:solidFill>
                            <a:srgbClr val="1E2838"/>
                          </a:solidFill>
                          <a:latin typeface="Arial"/>
                        </a:rPr>
                        <a:t>0 %</a:t>
                      </a:r>
                    </a:p>
                  </a:txBody>
                  <a:tcPr>
                    <a:solidFill>
                      <a:srgbClr val="FFFFFF"/>
                    </a:solidFill>
                  </a:tcPr>
                </a:tc>
                <a:tc>
                  <a:txBody>
                    <a:bodyPr/>
                    <a:lstStyle/>
                    <a:p>
                      <a:pPr algn="ctr"/>
                      <a:r>
                        <a:rPr sz="1400">
                          <a:solidFill>
                            <a:srgbClr val="1E2838"/>
                          </a:solidFill>
                          <a:latin typeface="Arial"/>
                        </a:rPr>
                        <a:t>0.6105</a:t>
                      </a:r>
                    </a:p>
                  </a:txBody>
                  <a:tcPr>
                    <a:solidFill>
                      <a:srgbClr val="FFFFFF"/>
                    </a:solidFill>
                  </a:tcPr>
                </a:tc>
              </a:tr>
            </a:tbl>
          </a:graphicData>
        </a:graphic>
      </p:graphicFrame>
      <p:sp>
        <p:nvSpPr>
          <p:cNvPr id="6" name="Rectangle 5"/>
          <p:cNvSpPr/>
          <p:nvPr/>
        </p:nvSpPr>
        <p:spPr>
          <a:xfrm>
            <a:off x="7086600" y="1874519"/>
            <a:ext cx="210312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2075688"/>
            <a:ext cx="1828799" cy="1143000"/>
          </a:xfrm>
          <a:prstGeom prst="rect">
            <a:avLst/>
          </a:prstGeom>
          <a:noFill/>
        </p:spPr>
        <p:txBody>
          <a:bodyPr wrap="square" lIns="0" rIns="0" tIns="0" bIns="0">
            <a:spAutoFit/>
          </a:bodyPr>
          <a:lstStyle/>
          <a:p>
            <a:pPr algn="ctr">
              <a:lnSpc>
                <a:spcPct val="115000"/>
              </a:lnSpc>
            </a:pPr>
            <a:r>
              <a:rPr sz="3400" b="1">
                <a:solidFill>
                  <a:srgbClr val="2E6F8E"/>
                </a:solidFill>
                <a:latin typeface="Arial"/>
              </a:rPr>
              <a:t>22,5 dB</a:t>
            </a:r>
          </a:p>
          <a:p>
            <a:pPr algn="ctr">
              <a:lnSpc>
                <a:spcPct val="105000"/>
              </a:lnSpc>
              <a:spcBef>
                <a:spcPts val="400"/>
              </a:spcBef>
            </a:pPr>
            <a:r>
              <a:rPr sz="1200" b="0">
                <a:solidFill>
                  <a:srgbClr val="6B7482"/>
                </a:solidFill>
                <a:latin typeface="Arial"/>
              </a:rPr>
              <a:t>PSNR du filigrane</a:t>
            </a:r>
          </a:p>
        </p:txBody>
      </p:sp>
      <p:sp>
        <p:nvSpPr>
          <p:cNvPr id="8" name="Rectangle 7"/>
          <p:cNvSpPr/>
          <p:nvPr/>
        </p:nvSpPr>
        <p:spPr>
          <a:xfrm>
            <a:off x="9372600" y="1874519"/>
            <a:ext cx="2103120" cy="150876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0" y="2075688"/>
            <a:ext cx="1828799" cy="1143000"/>
          </a:xfrm>
          <a:prstGeom prst="rect">
            <a:avLst/>
          </a:prstGeom>
          <a:noFill/>
        </p:spPr>
        <p:txBody>
          <a:bodyPr wrap="square" lIns="0" rIns="0" tIns="0" bIns="0">
            <a:spAutoFit/>
          </a:bodyPr>
          <a:lstStyle/>
          <a:p>
            <a:pPr algn="ctr">
              <a:lnSpc>
                <a:spcPct val="115000"/>
              </a:lnSpc>
            </a:pPr>
            <a:r>
              <a:rPr sz="3400" b="1">
                <a:solidFill>
                  <a:srgbClr val="2E6F8E"/>
                </a:solidFill>
                <a:latin typeface="Arial"/>
              </a:rPr>
              <a:t>0,942</a:t>
            </a:r>
          </a:p>
          <a:p>
            <a:pPr algn="ctr">
              <a:lnSpc>
                <a:spcPct val="105000"/>
              </a:lnSpc>
              <a:spcBef>
                <a:spcPts val="400"/>
              </a:spcBef>
            </a:pPr>
            <a:r>
              <a:rPr sz="1200" b="0">
                <a:solidFill>
                  <a:srgbClr val="6B7482"/>
                </a:solidFill>
                <a:latin typeface="Arial"/>
              </a:rPr>
              <a:t>SSIM</a:t>
            </a:r>
          </a:p>
        </p:txBody>
      </p:sp>
      <p:sp>
        <p:nvSpPr>
          <p:cNvPr id="10" name="TextBox 9"/>
          <p:cNvSpPr txBox="1"/>
          <p:nvPr/>
        </p:nvSpPr>
        <p:spPr>
          <a:xfrm>
            <a:off x="7086600" y="3429000"/>
            <a:ext cx="4389120" cy="2194560"/>
          </a:xfrm>
          <a:prstGeom prst="rect">
            <a:avLst/>
          </a:prstGeom>
          <a:noFill/>
        </p:spPr>
        <p:txBody>
          <a:bodyPr wrap="square" lIns="0" rIns="0" tIns="0" bIns="0">
            <a:spAutoFit/>
          </a:bodyPr>
          <a:lstStyle/>
          <a:p>
            <a:pPr algn="l">
              <a:lnSpc>
                <a:spcPct val="115000"/>
              </a:lnSpc>
            </a:pPr>
            <a:r>
              <a:rPr sz="1500" b="1">
                <a:solidFill>
                  <a:srgbClr val="141F33"/>
                </a:solidFill>
                <a:latin typeface="Arial"/>
              </a:rPr>
              <a:t>Ce qu'il faut retenir</a:t>
            </a:r>
          </a:p>
          <a:p>
            <a:pPr algn="l">
              <a:lnSpc>
                <a:spcPct val="125000"/>
              </a:lnSpc>
              <a:spcBef>
                <a:spcPts val="600"/>
              </a:spcBef>
            </a:pPr>
            <a:r>
              <a:rPr sz="1400" b="0">
                <a:solidFill>
                  <a:srgbClr val="1E2838"/>
                </a:solidFill>
                <a:latin typeface="Arial"/>
              </a:rPr>
              <a:t>Compression, photometrie et bruit ne genent pas. Le flou et le reechantillonnage degradent progressivement.</a:t>
            </a:r>
          </a:p>
          <a:p>
            <a:pPr algn="l">
              <a:lnSpc>
                <a:spcPct val="125000"/>
              </a:lnSpc>
              <a:spcBef>
                <a:spcPts val="800"/>
              </a:spcBef>
            </a:pPr>
            <a:r>
              <a:rPr sz="1400" b="0">
                <a:solidFill>
                  <a:srgbClr val="A83B3B"/>
                </a:solidFill>
                <a:latin typeface="Arial"/>
              </a:rPr>
              <a:t>Le recadrage annule le canal : Ω est un message GLOBAL de 64 bits reparti sur toute l'image, non un motif repete localement.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RESULTAT 2 SUR 4  ·  LE PLUS INATTENDU</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Le decodeur conditionne resiste mieux que le tatouage post-hoc</a:t>
            </a:r>
          </a:p>
        </p:txBody>
      </p:sp>
      <p:graphicFrame>
        <p:nvGraphicFramePr>
          <p:cNvPr id="5" name="Chart 4"/>
          <p:cNvGraphicFramePr>
            <a:graphicFrameLocks noGrp="1"/>
          </p:cNvGraphicFramePr>
          <p:nvPr/>
        </p:nvGraphicFramePr>
        <p:xfrm>
          <a:off x="685800" y="1783080"/>
          <a:ext cx="6949440" cy="3977639"/>
        </p:xfrm>
        <a:graphic>
          <a:graphicData uri="http://schemas.openxmlformats.org/drawingml/2006/chart">
            <c:chart xmlns:c="http://schemas.openxmlformats.org/drawingml/2006/chart" r:id="rId2"/>
          </a:graphicData>
        </a:graphic>
      </p:graphicFrame>
      <p:sp>
        <p:nvSpPr>
          <p:cNvPr id="6" name="TextBox 5"/>
          <p:cNvSpPr txBox="1"/>
          <p:nvPr/>
        </p:nvSpPr>
        <p:spPr>
          <a:xfrm>
            <a:off x="7955279" y="1920240"/>
            <a:ext cx="3566160" cy="3749039"/>
          </a:xfrm>
          <a:prstGeom prst="rect">
            <a:avLst/>
          </a:prstGeom>
          <a:noFill/>
        </p:spPr>
        <p:txBody>
          <a:bodyPr wrap="square" lIns="0" rIns="0" tIns="0" bIns="0">
            <a:spAutoFit/>
          </a:bodyPr>
          <a:lstStyle/>
          <a:p>
            <a:pPr algn="l">
              <a:lnSpc>
                <a:spcPct val="115000"/>
              </a:lnSpc>
            </a:pPr>
            <a:r>
              <a:rPr sz="1700" b="1">
                <a:solidFill>
                  <a:srgbClr val="141F33"/>
                </a:solidFill>
                <a:latin typeface="Arial"/>
              </a:rPr>
              <a:t>Pourquoi</a:t>
            </a:r>
          </a:p>
          <a:p>
            <a:pPr algn="l">
              <a:lnSpc>
                <a:spcPct val="130000"/>
              </a:lnSpc>
              <a:spcBef>
                <a:spcPts val="800"/>
              </a:spcBef>
            </a:pPr>
            <a:r>
              <a:rPr sz="1500" b="0">
                <a:solidFill>
                  <a:srgbClr val="1E2838"/>
                </a:solidFill>
                <a:latin typeface="Arial"/>
              </a:rPr>
              <a:t>Le temoin porte par les poids NAIT avec l'image, au lieu de s'y superposer apres coup.</a:t>
            </a:r>
          </a:p>
          <a:p>
            <a:pPr algn="l">
              <a:lnSpc>
                <a:spcPct val="130000"/>
              </a:lnSpc>
              <a:spcBef>
                <a:spcPts val="1000"/>
              </a:spcBef>
            </a:pPr>
            <a:r>
              <a:rPr sz="1500" b="0">
                <a:solidFill>
                  <a:srgbClr val="1E2838"/>
                </a:solidFill>
                <a:latin typeface="Arial"/>
              </a:rPr>
              <a:t>Il est donc reparti dans la structure meme du contenu genere, et non dans un residu que le filtrage efface.</a:t>
            </a:r>
          </a:p>
          <a:p>
            <a:pPr algn="l">
              <a:lnSpc>
                <a:spcPct val="130000"/>
              </a:lnSpc>
              <a:spcBef>
                <a:spcPts val="1200"/>
              </a:spcBef>
            </a:pPr>
            <a:r>
              <a:rPr sz="1500" b="1">
                <a:solidFill>
                  <a:srgbClr val="C46A2E"/>
                </a:solidFill>
                <a:latin typeface="Arial"/>
              </a:rPr>
              <a:t>Ce n'etait pas acquis d'avance : c'est le resultat le plus fort de la campagne.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RESULTAT 3 SUR 4</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Le meme mecanisme, deux architectures, deux resultats</a:t>
            </a:r>
          </a:p>
        </p:txBody>
      </p:sp>
      <p:graphicFrame>
        <p:nvGraphicFramePr>
          <p:cNvPr id="5" name="Chart 4"/>
          <p:cNvGraphicFramePr>
            <a:graphicFrameLocks noGrp="1"/>
          </p:cNvGraphicFramePr>
          <p:nvPr/>
        </p:nvGraphicFramePr>
        <p:xfrm>
          <a:off x="685800" y="1783080"/>
          <a:ext cx="6949440" cy="3977639"/>
        </p:xfrm>
        <a:graphic>
          <a:graphicData uri="http://schemas.openxmlformats.org/drawingml/2006/chart">
            <c:chart xmlns:c="http://schemas.openxmlformats.org/drawingml/2006/chart" r:id="rId2"/>
          </a:graphicData>
        </a:graphic>
      </p:graphicFrame>
      <p:sp>
        <p:nvSpPr>
          <p:cNvPr id="6" name="TextBox 5"/>
          <p:cNvSpPr txBox="1"/>
          <p:nvPr/>
        </p:nvSpPr>
        <p:spPr>
          <a:xfrm>
            <a:off x="7955279" y="1920240"/>
            <a:ext cx="3566160" cy="3749039"/>
          </a:xfrm>
          <a:prstGeom prst="rect">
            <a:avLst/>
          </a:prstGeom>
          <a:noFill/>
        </p:spPr>
        <p:txBody>
          <a:bodyPr wrap="square" lIns="0" rIns="0" tIns="0" bIns="0">
            <a:spAutoFit/>
          </a:bodyPr>
          <a:lstStyle/>
          <a:p>
            <a:pPr algn="l">
              <a:lnSpc>
                <a:spcPct val="115000"/>
              </a:lnSpc>
            </a:pPr>
            <a:r>
              <a:rPr sz="1700" b="1">
                <a:solidFill>
                  <a:srgbClr val="141F33"/>
                </a:solidFill>
                <a:latin typeface="Arial"/>
              </a:rPr>
              <a:t>Le cout de l'agnosticisme</a:t>
            </a:r>
          </a:p>
          <a:p>
            <a:pPr algn="l">
              <a:lnSpc>
                <a:spcPct val="128000"/>
              </a:lnSpc>
              <a:spcBef>
                <a:spcPts val="800"/>
              </a:spcBef>
            </a:pPr>
            <a:r>
              <a:rPr sz="1450" b="0">
                <a:solidFill>
                  <a:srgbClr val="1E2838"/>
                </a:solidFill>
                <a:latin typeface="Arial"/>
              </a:rPr>
              <a:t>Le conditionneur ne trouve que 3 etages modulables dans MaskGIT contre 6 dans le DC-AE, et l'un des trois porte sur la sortie RGB, ou moduler revient a teinter l'image.</a:t>
            </a:r>
          </a:p>
          <a:p>
            <a:pPr algn="l">
              <a:lnSpc>
                <a:spcPct val="125000"/>
              </a:lnSpc>
              <a:spcBef>
                <a:spcPts val="1000"/>
              </a:spcBef>
            </a:pPr>
            <a:r>
              <a:rPr sz="1500" b="1">
                <a:solidFill>
                  <a:srgbClr val="141F33"/>
                </a:solidFill>
                <a:latin typeface="Arial"/>
              </a:rPr>
              <a:t>0,48 M de parametres contre 2,91 M.</a:t>
            </a:r>
          </a:p>
          <a:p>
            <a:pPr algn="l">
              <a:lnSpc>
                <a:spcPct val="128000"/>
              </a:lnSpc>
              <a:spcBef>
                <a:spcPts val="1000"/>
              </a:spcBef>
            </a:pPr>
            <a:r>
              <a:rPr sz="1450" b="0">
                <a:solidFill>
                  <a:srgbClr val="6B7482"/>
                </a:solidFill>
                <a:latin typeface="Arial"/>
              </a:rPr>
              <a:t>Le mecanisme s'applique partout ; son efficacite depend des prises que le decodeur offre.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RESULTAT 4 SUR 4</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Ce que la cryptographie apporte, et que la mesure confirme</a:t>
            </a:r>
          </a:p>
        </p:txBody>
      </p:sp>
      <p:sp>
        <p:nvSpPr>
          <p:cNvPr id="5" name="Rectangle 4"/>
          <p:cNvSpPr/>
          <p:nvPr/>
        </p:nvSpPr>
        <p:spPr>
          <a:xfrm>
            <a:off x="685800" y="1828800"/>
            <a:ext cx="2514600" cy="155448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29968"/>
            <a:ext cx="2240280" cy="1188719"/>
          </a:xfrm>
          <a:prstGeom prst="rect">
            <a:avLst/>
          </a:prstGeom>
          <a:noFill/>
        </p:spPr>
        <p:txBody>
          <a:bodyPr wrap="square" lIns="0" rIns="0" tIns="0" bIns="0">
            <a:spAutoFit/>
          </a:bodyPr>
          <a:lstStyle/>
          <a:p>
            <a:pPr algn="ctr">
              <a:lnSpc>
                <a:spcPct val="115000"/>
              </a:lnSpc>
            </a:pPr>
            <a:r>
              <a:rPr sz="3400" b="1">
                <a:solidFill>
                  <a:srgbClr val="3F7A54"/>
                </a:solidFill>
                <a:latin typeface="Arial"/>
              </a:rPr>
              <a:t>0 / 25 000</a:t>
            </a:r>
          </a:p>
          <a:p>
            <a:pPr algn="ctr">
              <a:lnSpc>
                <a:spcPct val="105000"/>
              </a:lnSpc>
              <a:spcBef>
                <a:spcPts val="400"/>
              </a:spcBef>
            </a:pPr>
            <a:r>
              <a:rPr sz="1200" b="0">
                <a:solidFill>
                  <a:srgbClr val="6B7482"/>
                </a:solidFill>
                <a:latin typeface="Arial"/>
              </a:rPr>
              <a:t>fausse attribution</a:t>
            </a:r>
          </a:p>
        </p:txBody>
      </p:sp>
      <p:sp>
        <p:nvSpPr>
          <p:cNvPr id="7" name="Rectangle 6"/>
          <p:cNvSpPr/>
          <p:nvPr/>
        </p:nvSpPr>
        <p:spPr>
          <a:xfrm>
            <a:off x="3447288" y="1828800"/>
            <a:ext cx="2514600" cy="155448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4448" y="2029968"/>
            <a:ext cx="2240280" cy="1188719"/>
          </a:xfrm>
          <a:prstGeom prst="rect">
            <a:avLst/>
          </a:prstGeom>
          <a:noFill/>
        </p:spPr>
        <p:txBody>
          <a:bodyPr wrap="square" lIns="0" rIns="0" tIns="0" bIns="0">
            <a:spAutoFit/>
          </a:bodyPr>
          <a:lstStyle/>
          <a:p>
            <a:pPr algn="ctr">
              <a:lnSpc>
                <a:spcPct val="115000"/>
              </a:lnSpc>
            </a:pPr>
            <a:r>
              <a:rPr sz="3400" b="1">
                <a:solidFill>
                  <a:srgbClr val="3F7A54"/>
                </a:solidFill>
                <a:latin typeface="Arial"/>
              </a:rPr>
              <a:t>0 / 300</a:t>
            </a:r>
          </a:p>
          <a:p>
            <a:pPr algn="ctr">
              <a:lnSpc>
                <a:spcPct val="105000"/>
              </a:lnSpc>
              <a:spcBef>
                <a:spcPts val="400"/>
              </a:spcBef>
            </a:pPr>
            <a:r>
              <a:rPr sz="1200" b="0">
                <a:solidFill>
                  <a:srgbClr val="6B7482"/>
                </a:solidFill>
                <a:latin typeface="Arial"/>
              </a:rPr>
              <a:t>rejeu reussi</a:t>
            </a:r>
          </a:p>
        </p:txBody>
      </p:sp>
      <p:sp>
        <p:nvSpPr>
          <p:cNvPr id="9" name="Rectangle 8"/>
          <p:cNvSpPr/>
          <p:nvPr/>
        </p:nvSpPr>
        <p:spPr>
          <a:xfrm>
            <a:off x="6208776" y="1828800"/>
            <a:ext cx="2514600" cy="155448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2029968"/>
            <a:ext cx="2240280" cy="1188719"/>
          </a:xfrm>
          <a:prstGeom prst="rect">
            <a:avLst/>
          </a:prstGeom>
          <a:noFill/>
        </p:spPr>
        <p:txBody>
          <a:bodyPr wrap="square" lIns="0" rIns="0" tIns="0" bIns="0">
            <a:spAutoFit/>
          </a:bodyPr>
          <a:lstStyle/>
          <a:p>
            <a:pPr algn="ctr">
              <a:lnSpc>
                <a:spcPct val="115000"/>
              </a:lnSpc>
            </a:pPr>
            <a:r>
              <a:rPr sz="3400" b="1">
                <a:solidFill>
                  <a:srgbClr val="C46A2E"/>
                </a:solidFill>
                <a:latin typeface="Arial"/>
              </a:rPr>
              <a:t>0,10 %</a:t>
            </a:r>
          </a:p>
          <a:p>
            <a:pPr algn="ctr">
              <a:lnSpc>
                <a:spcPct val="105000"/>
              </a:lnSpc>
              <a:spcBef>
                <a:spcPts val="400"/>
              </a:spcBef>
            </a:pPr>
            <a:r>
              <a:rPr sz="1200" b="0">
                <a:solidFill>
                  <a:srgbClr val="6B7482"/>
                </a:solidFill>
                <a:latin typeface="Arial"/>
              </a:rPr>
              <a:t>transplantation reussie
(8/8 avant correctif)</a:t>
            </a:r>
          </a:p>
        </p:txBody>
      </p:sp>
      <p:sp>
        <p:nvSpPr>
          <p:cNvPr id="11" name="Rectangle 10"/>
          <p:cNvSpPr/>
          <p:nvPr/>
        </p:nvSpPr>
        <p:spPr>
          <a:xfrm>
            <a:off x="8970264" y="1828800"/>
            <a:ext cx="2514600" cy="1554480"/>
          </a:xfrm>
          <a:prstGeom prst="rect">
            <a:avLst/>
          </a:prstGeom>
          <a:solidFill>
            <a:srgbClr val="FFFFFF"/>
          </a:solidFill>
          <a:ln w="12700">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7424" y="2029968"/>
            <a:ext cx="2240280" cy="1188719"/>
          </a:xfrm>
          <a:prstGeom prst="rect">
            <a:avLst/>
          </a:prstGeom>
          <a:noFill/>
        </p:spPr>
        <p:txBody>
          <a:bodyPr wrap="square" lIns="0" rIns="0" tIns="0" bIns="0">
            <a:spAutoFit/>
          </a:bodyPr>
          <a:lstStyle/>
          <a:p>
            <a:pPr algn="ctr">
              <a:lnSpc>
                <a:spcPct val="115000"/>
              </a:lnSpc>
            </a:pPr>
            <a:r>
              <a:rPr sz="3400" b="1">
                <a:solidFill>
                  <a:srgbClr val="3F7A54"/>
                </a:solidFill>
                <a:latin typeface="Arial"/>
              </a:rPr>
              <a:t>100 / 100</a:t>
            </a:r>
          </a:p>
          <a:p>
            <a:pPr algn="ctr">
              <a:lnSpc>
                <a:spcPct val="105000"/>
              </a:lnSpc>
              <a:spcBef>
                <a:spcPts val="400"/>
              </a:spcBef>
            </a:pPr>
            <a:r>
              <a:rPr sz="1200" b="0">
                <a:solidFill>
                  <a:srgbClr val="6B7482"/>
                </a:solidFill>
                <a:latin typeface="Arial"/>
              </a:rPr>
              <a:t>chaine complete
protocole reel</a:t>
            </a:r>
          </a:p>
        </p:txBody>
      </p:sp>
      <p:sp>
        <p:nvSpPr>
          <p:cNvPr id="13" name="TextBox 12"/>
          <p:cNvSpPr txBox="1"/>
          <p:nvPr/>
        </p:nvSpPr>
        <p:spPr>
          <a:xfrm>
            <a:off x="685800" y="3566160"/>
            <a:ext cx="10789920" cy="2286000"/>
          </a:xfrm>
          <a:prstGeom prst="rect">
            <a:avLst/>
          </a:prstGeom>
          <a:noFill/>
        </p:spPr>
        <p:txBody>
          <a:bodyPr wrap="square" lIns="0" rIns="0" tIns="0" bIns="0">
            <a:spAutoFit/>
          </a:bodyPr>
          <a:lstStyle/>
          <a:p>
            <a:pPr algn="l">
              <a:lnSpc>
                <a:spcPct val="115000"/>
              </a:lnSpc>
            </a:pPr>
            <a:r>
              <a:rPr sz="1600" b="1">
                <a:solidFill>
                  <a:srgbClr val="141F33"/>
                </a:solidFill>
                <a:latin typeface="Arial"/>
              </a:rPr>
              <a:t>La chaine de bout en bout, verifiee sur GPU</a:t>
            </a:r>
          </a:p>
          <a:p>
            <a:pPr algn="l">
              <a:lnSpc>
                <a:spcPct val="130000"/>
              </a:lnSpc>
              <a:spcBef>
                <a:spcPts val="800"/>
              </a:spcBef>
            </a:pPr>
            <a:r>
              <a:rPr sz="1500" b="0">
                <a:solidFill>
                  <a:srgbClr val="1E2838"/>
                </a:solidFill>
                <a:latin typeface="Arial"/>
              </a:rPr>
              <a:t>Une classe est fournie. Le modele genere. L'image sort tatouee d'un Ω derive de l'IDENTITE du createur et lie au contenu. Un verifieur qui ne sait rien a l'avance lit le nonce, consulte le registre, rederive la cle, et retrouve le nom.</a:t>
            </a:r>
          </a:p>
          <a:p>
            <a:pPr algn="l">
              <a:lnSpc>
                <a:spcPct val="130000"/>
              </a:lnSpc>
              <a:spcBef>
                <a:spcPts val="1000"/>
              </a:spcBef>
            </a:pPr>
            <a:r>
              <a:rPr sz="1450" b="0">
                <a:solidFill>
                  <a:srgbClr val="6B7482"/>
                </a:solidFill>
                <a:latin typeface="Arial"/>
              </a:rPr>
              <a:t>Controle negatif : decoder le MEME latent SANS conditionnement donne 31/64 bits, le hasard, et zero verdict sur 300. Le temoin vient bien de la modulation.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ANALYSE COMPARATIVE</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Ce que CipherMark ajoute, et ce qu'il concede</a:t>
            </a:r>
          </a:p>
        </p:txBody>
      </p:sp>
      <p:graphicFrame>
        <p:nvGraphicFramePr>
          <p:cNvPr id="5" name="Table 4"/>
          <p:cNvGraphicFramePr>
            <a:graphicFrameLocks noGrp="1"/>
          </p:cNvGraphicFramePr>
          <p:nvPr/>
        </p:nvGraphicFramePr>
        <p:xfrm>
          <a:off x="685800" y="1828800"/>
          <a:ext cx="10789918" cy="3200400"/>
        </p:xfrm>
        <a:graphic>
          <a:graphicData uri="http://schemas.openxmlformats.org/drawingml/2006/table">
            <a:tbl>
              <a:tblPr firstRow="1" bandRow="1">
                <a:tableStyleId>{5C22544A-7EE6-4342-B048-85BDC9FD1C3A}</a:tableStyleId>
              </a:tblPr>
              <a:tblGrid>
                <a:gridCol w="3944701"/>
                <a:gridCol w="3132557"/>
                <a:gridCol w="3712660"/>
              </a:tblGrid>
              <a:tr h="457200">
                <a:tc>
                  <a:txBody>
                    <a:bodyPr/>
                    <a:lstStyle/>
                    <a:p>
                      <a:pPr algn="l"/>
                    </a:p>
                  </a:txBody>
                  <a:tcPr>
                    <a:solidFill>
                      <a:srgbClr val="141F33"/>
                    </a:solidFill>
                  </a:tcPr>
                </a:tc>
                <a:tc>
                  <a:txBody>
                    <a:bodyPr/>
                    <a:lstStyle/>
                    <a:p>
                      <a:pPr algn="ctr"/>
                      <a:r>
                        <a:rPr sz="1350" b="1">
                          <a:solidFill>
                            <a:srgbClr val="F7F6F2"/>
                          </a:solidFill>
                          <a:latin typeface="Arial"/>
                        </a:rPr>
                        <a:t>DistSeal (2026)</a:t>
                      </a:r>
                    </a:p>
                  </a:txBody>
                  <a:tcPr>
                    <a:solidFill>
                      <a:srgbClr val="141F33"/>
                    </a:solidFill>
                  </a:tcPr>
                </a:tc>
                <a:tc>
                  <a:txBody>
                    <a:bodyPr/>
                    <a:lstStyle/>
                    <a:p>
                      <a:pPr algn="ctr"/>
                      <a:r>
                        <a:rPr sz="1350" b="1">
                          <a:solidFill>
                            <a:srgbClr val="F7F6F2"/>
                          </a:solidFill>
                          <a:latin typeface="Arial"/>
                        </a:rPr>
                        <a:t>CipherMark</a:t>
                      </a:r>
                    </a:p>
                  </a:txBody>
                  <a:tcPr>
                    <a:solidFill>
                      <a:srgbClr val="141F33"/>
                    </a:solidFill>
                  </a:tcPr>
                </a:tc>
              </a:tr>
              <a:tr h="457200">
                <a:tc>
                  <a:txBody>
                    <a:bodyPr/>
                    <a:lstStyle/>
                    <a:p>
                      <a:pPr algn="l"/>
                      <a:r>
                        <a:rPr sz="1350" b="1">
                          <a:solidFill>
                            <a:srgbClr val="1E2838"/>
                          </a:solidFill>
                          <a:latin typeface="Arial"/>
                        </a:rPr>
                        <a:t>Message par generation</a:t>
                      </a:r>
                    </a:p>
                  </a:txBody>
                  <a:tcPr>
                    <a:solidFill>
                      <a:srgbClr val="FFFFFF"/>
                    </a:solidFill>
                  </a:tcPr>
                </a:tc>
                <a:tc>
                  <a:txBody>
                    <a:bodyPr/>
                    <a:lstStyle/>
                    <a:p>
                      <a:pPr algn="ctr"/>
                      <a:r>
                        <a:rPr sz="1350">
                          <a:solidFill>
                            <a:srgbClr val="1E2838"/>
                          </a:solidFill>
                          <a:latin typeface="Arial"/>
                        </a:rPr>
                        <a:t>fixe, rejouable</a:t>
                      </a:r>
                    </a:p>
                  </a:txBody>
                  <a:tcPr>
                    <a:solidFill>
                      <a:srgbClr val="FFFFFF"/>
                    </a:solidFill>
                  </a:tcPr>
                </a:tc>
                <a:tc>
                  <a:txBody>
                    <a:bodyPr/>
                    <a:lstStyle/>
                    <a:p>
                      <a:pPr algn="ctr"/>
                      <a:r>
                        <a:rPr sz="1350">
                          <a:solidFill>
                            <a:srgbClr val="1E2838"/>
                          </a:solidFill>
                          <a:latin typeface="Arial"/>
                        </a:rPr>
                        <a:t>unique, lie au contenu</a:t>
                      </a:r>
                    </a:p>
                  </a:txBody>
                  <a:tcPr>
                    <a:solidFill>
                      <a:srgbClr val="FFFFFF"/>
                    </a:solidFill>
                  </a:tcPr>
                </a:tc>
              </a:tr>
              <a:tr h="457200">
                <a:tc>
                  <a:txBody>
                    <a:bodyPr/>
                    <a:lstStyle/>
                    <a:p>
                      <a:pPr algn="l"/>
                      <a:r>
                        <a:rPr sz="1350" b="1">
                          <a:solidFill>
                            <a:srgbClr val="1E2838"/>
                          </a:solidFill>
                          <a:latin typeface="Arial"/>
                        </a:rPr>
                        <a:t>Securite formelle</a:t>
                      </a:r>
                    </a:p>
                  </a:txBody>
                  <a:tcPr>
                    <a:solidFill>
                      <a:srgbClr val="EFEDE7"/>
                    </a:solidFill>
                  </a:tcPr>
                </a:tc>
                <a:tc>
                  <a:txBody>
                    <a:bodyPr/>
                    <a:lstStyle/>
                    <a:p>
                      <a:pPr algn="ctr"/>
                      <a:r>
                        <a:rPr sz="1350">
                          <a:solidFill>
                            <a:srgbClr val="1E2838"/>
                          </a:solidFill>
                          <a:latin typeface="Arial"/>
                        </a:rPr>
                        <a:t>aucune</a:t>
                      </a:r>
                    </a:p>
                  </a:txBody>
                  <a:tcPr>
                    <a:solidFill>
                      <a:srgbClr val="EFEDE7"/>
                    </a:solidFill>
                  </a:tcPr>
                </a:tc>
                <a:tc>
                  <a:txBody>
                    <a:bodyPr/>
                    <a:lstStyle/>
                    <a:p>
                      <a:pPr algn="ctr"/>
                      <a:r>
                        <a:rPr sz="1350">
                          <a:solidFill>
                            <a:srgbClr val="1E2838"/>
                          </a:solidFill>
                          <a:latin typeface="Arial"/>
                        </a:rPr>
                        <a:t>HMAC-SHA256 + ChaCha20</a:t>
                      </a:r>
                    </a:p>
                  </a:txBody>
                  <a:tcPr>
                    <a:solidFill>
                      <a:srgbClr val="EFEDE7"/>
                    </a:solidFill>
                  </a:tcPr>
                </a:tc>
              </a:tr>
              <a:tr h="457200">
                <a:tc>
                  <a:txBody>
                    <a:bodyPr/>
                    <a:lstStyle/>
                    <a:p>
                      <a:pPr algn="l"/>
                      <a:r>
                        <a:rPr sz="1350" b="1">
                          <a:solidFill>
                            <a:srgbClr val="1E2838"/>
                          </a:solidFill>
                          <a:latin typeface="Arial"/>
                        </a:rPr>
                        <a:t>Attribution au createur</a:t>
                      </a:r>
                    </a:p>
                  </a:txBody>
                  <a:tcPr>
                    <a:solidFill>
                      <a:srgbClr val="FFFFFF"/>
                    </a:solidFill>
                  </a:tcPr>
                </a:tc>
                <a:tc>
                  <a:txBody>
                    <a:bodyPr/>
                    <a:lstStyle/>
                    <a:p>
                      <a:pPr algn="ctr"/>
                      <a:r>
                        <a:rPr sz="1350">
                          <a:solidFill>
                            <a:srgbClr val="1E2838"/>
                          </a:solidFill>
                          <a:latin typeface="Arial"/>
                        </a:rPr>
                        <a:t>non</a:t>
                      </a:r>
                    </a:p>
                  </a:txBody>
                  <a:tcPr>
                    <a:solidFill>
                      <a:srgbClr val="FFFFFF"/>
                    </a:solidFill>
                  </a:tcPr>
                </a:tc>
                <a:tc>
                  <a:txBody>
                    <a:bodyPr/>
                    <a:lstStyle/>
                    <a:p>
                      <a:pPr algn="ctr"/>
                      <a:r>
                        <a:rPr sz="1350">
                          <a:solidFill>
                            <a:srgbClr val="1E2838"/>
                          </a:solidFill>
                          <a:latin typeface="Arial"/>
                        </a:rPr>
                        <a:t>cle derivee, 0 erreur / 25 000</a:t>
                      </a:r>
                    </a:p>
                  </a:txBody>
                  <a:tcPr>
                    <a:solidFill>
                      <a:srgbClr val="FFFFFF"/>
                    </a:solidFill>
                  </a:tcPr>
                </a:tc>
              </a:tr>
              <a:tr h="457200">
                <a:tc>
                  <a:txBody>
                    <a:bodyPr/>
                    <a:lstStyle/>
                    <a:p>
                      <a:pPr algn="l"/>
                      <a:r>
                        <a:rPr sz="1350" b="1">
                          <a:solidFill>
                            <a:srgbClr val="1E2838"/>
                          </a:solidFill>
                          <a:latin typeface="Arial"/>
                        </a:rPr>
                        <a:t>Compression et bruit</a:t>
                      </a:r>
                    </a:p>
                  </a:txBody>
                  <a:tcPr>
                    <a:solidFill>
                      <a:srgbClr val="EFEDE7"/>
                    </a:solidFill>
                  </a:tcPr>
                </a:tc>
                <a:tc>
                  <a:txBody>
                    <a:bodyPr/>
                    <a:lstStyle/>
                    <a:p>
                      <a:pPr algn="ctr"/>
                      <a:r>
                        <a:rPr sz="1350">
                          <a:solidFill>
                            <a:srgbClr val="1E2838"/>
                          </a:solidFill>
                          <a:latin typeface="Arial"/>
                        </a:rPr>
                        <a:t>99,23 % (bit acc.)</a:t>
                      </a:r>
                    </a:p>
                  </a:txBody>
                  <a:tcPr>
                    <a:solidFill>
                      <a:srgbClr val="EFEDE7"/>
                    </a:solidFill>
                  </a:tcPr>
                </a:tc>
                <a:tc>
                  <a:txBody>
                    <a:bodyPr/>
                    <a:lstStyle/>
                    <a:p>
                      <a:pPr algn="ctr"/>
                      <a:r>
                        <a:rPr sz="1350">
                          <a:solidFill>
                            <a:srgbClr val="1E2838"/>
                          </a:solidFill>
                          <a:latin typeface="Arial"/>
                        </a:rPr>
                        <a:t>100 % de verdicts</a:t>
                      </a:r>
                    </a:p>
                  </a:txBody>
                  <a:tcPr>
                    <a:solidFill>
                      <a:srgbClr val="EFEDE7"/>
                    </a:solidFill>
                  </a:tcPr>
                </a:tc>
              </a:tr>
              <a:tr h="457200">
                <a:tc>
                  <a:txBody>
                    <a:bodyPr/>
                    <a:lstStyle/>
                    <a:p>
                      <a:pPr algn="l"/>
                      <a:r>
                        <a:rPr sz="1350" b="1">
                          <a:solidFill>
                            <a:srgbClr val="1E2838"/>
                          </a:solidFill>
                          <a:latin typeface="Arial"/>
                        </a:rPr>
                        <a:t>Transformations geometriques</a:t>
                      </a:r>
                    </a:p>
                  </a:txBody>
                  <a:tcPr>
                    <a:solidFill>
                      <a:srgbClr val="FFFFFF"/>
                    </a:solidFill>
                  </a:tcPr>
                </a:tc>
                <a:tc>
                  <a:txBody>
                    <a:bodyPr/>
                    <a:lstStyle/>
                    <a:p>
                      <a:pPr algn="ctr"/>
                      <a:r>
                        <a:rPr sz="1350">
                          <a:solidFill>
                            <a:srgbClr val="1E2838"/>
                          </a:solidFill>
                          <a:latin typeface="Arial"/>
                        </a:rPr>
                        <a:t>91,62 %</a:t>
                      </a:r>
                    </a:p>
                  </a:txBody>
                  <a:tcPr>
                    <a:solidFill>
                      <a:srgbClr val="FFFFFF"/>
                    </a:solidFill>
                  </a:tcPr>
                </a:tc>
                <a:tc>
                  <a:txBody>
                    <a:bodyPr/>
                    <a:lstStyle/>
                    <a:p>
                      <a:pPr algn="ctr"/>
                      <a:r>
                        <a:rPr sz="1350">
                          <a:solidFill>
                            <a:srgbClr val="1E2838"/>
                          </a:solidFill>
                          <a:latin typeface="Arial"/>
                        </a:rPr>
                        <a:t>0 %</a:t>
                      </a:r>
                    </a:p>
                  </a:txBody>
                  <a:tcPr>
                    <a:solidFill>
                      <a:srgbClr val="FFFFFF"/>
                    </a:solidFill>
                  </a:tcPr>
                </a:tc>
              </a:tr>
              <a:tr h="457200">
                <a:tc>
                  <a:txBody>
                    <a:bodyPr/>
                    <a:lstStyle/>
                    <a:p>
                      <a:pPr algn="l"/>
                      <a:r>
                        <a:rPr sz="1350" b="1">
                          <a:solidFill>
                            <a:srgbClr val="1E2838"/>
                          </a:solidFill>
                          <a:latin typeface="Arial"/>
                        </a:rPr>
                        <a:t>Familles couvertes</a:t>
                      </a:r>
                    </a:p>
                  </a:txBody>
                  <a:tcPr>
                    <a:solidFill>
                      <a:srgbClr val="EFEDE7"/>
                    </a:solidFill>
                  </a:tcPr>
                </a:tc>
                <a:tc>
                  <a:txBody>
                    <a:bodyPr/>
                    <a:lstStyle/>
                    <a:p>
                      <a:pPr algn="ctr"/>
                      <a:r>
                        <a:rPr sz="1350">
                          <a:solidFill>
                            <a:srgbClr val="1E2838"/>
                          </a:solidFill>
                          <a:latin typeface="Arial"/>
                        </a:rPr>
                        <a:t>diffusion + autoregressif</a:t>
                      </a:r>
                    </a:p>
                  </a:txBody>
                  <a:tcPr>
                    <a:solidFill>
                      <a:srgbClr val="EFEDE7"/>
                    </a:solidFill>
                  </a:tcPr>
                </a:tc>
                <a:tc>
                  <a:txBody>
                    <a:bodyPr/>
                    <a:lstStyle/>
                    <a:p>
                      <a:pPr algn="ctr"/>
                      <a:r>
                        <a:rPr sz="1350">
                          <a:solidFill>
                            <a:srgbClr val="1E2838"/>
                          </a:solidFill>
                          <a:latin typeface="Arial"/>
                        </a:rPr>
                        <a:t>les deux, avec un ecart mesure</a:t>
                      </a:r>
                    </a:p>
                  </a:txBody>
                  <a:tcPr>
                    <a:solidFill>
                      <a:srgbClr val="EFEDE7"/>
                    </a:solidFill>
                  </a:tcPr>
                </a:tc>
              </a:tr>
            </a:tbl>
          </a:graphicData>
        </a:graphic>
      </p:graphicFrame>
      <p:sp>
        <p:nvSpPr>
          <p:cNvPr id="6" name="TextBox 5"/>
          <p:cNvSpPr txBox="1"/>
          <p:nvPr/>
        </p:nvSpPr>
        <p:spPr>
          <a:xfrm>
            <a:off x="685800" y="5120640"/>
            <a:ext cx="10789920" cy="1097280"/>
          </a:xfrm>
          <a:prstGeom prst="rect">
            <a:avLst/>
          </a:prstGeom>
          <a:noFill/>
        </p:spPr>
        <p:txBody>
          <a:bodyPr wrap="square" lIns="0" rIns="0" tIns="0" bIns="0">
            <a:spAutoFit/>
          </a:bodyPr>
          <a:lstStyle/>
          <a:p>
            <a:pPr algn="l">
              <a:lnSpc>
                <a:spcPct val="115000"/>
              </a:lnSpc>
            </a:pPr>
            <a:r>
              <a:rPr sz="1550" b="1">
                <a:solidFill>
                  <a:srgbClr val="141F33"/>
                </a:solidFill>
                <a:latin typeface="Arial"/>
              </a:rPr>
              <a:t>Un echange explicite</a:t>
            </a:r>
          </a:p>
          <a:p>
            <a:pPr algn="l">
              <a:lnSpc>
                <a:spcPct val="128000"/>
              </a:lnSpc>
              <a:spcBef>
                <a:spcPts val="600"/>
              </a:spcBef>
            </a:pPr>
            <a:r>
              <a:rPr sz="1450" b="0">
                <a:solidFill>
                  <a:srgbClr val="1E2838"/>
                </a:solidFill>
                <a:latin typeface="Arial"/>
              </a:rPr>
              <a:t>Sur les transformations non geometriques, CipherMark tient son rang et depasse DistSeal en compression. Sur la geometrie, le retrait est une falaise. En contrepartie il acquiert quatre proprietes absentes de DistSeal.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DISCUSSION</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Trois limites, annoncees plutot que decouvertes apres coup</a:t>
            </a:r>
          </a:p>
        </p:txBody>
      </p:sp>
      <p:sp>
        <p:nvSpPr>
          <p:cNvPr id="5" name="Rectangle 4"/>
          <p:cNvSpPr/>
          <p:nvPr/>
        </p:nvSpPr>
        <p:spPr>
          <a:xfrm>
            <a:off x="685800" y="1828800"/>
            <a:ext cx="10789920" cy="128016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828800"/>
            <a:ext cx="82296" cy="1280160"/>
          </a:xfrm>
          <a:prstGeom prst="rect">
            <a:avLst/>
          </a:prstGeom>
          <a:solidFill>
            <a:srgbClr val="A8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75104"/>
            <a:ext cx="10149840" cy="1005840"/>
          </a:xfrm>
          <a:prstGeom prst="rect">
            <a:avLst/>
          </a:prstGeom>
          <a:noFill/>
        </p:spPr>
        <p:txBody>
          <a:bodyPr wrap="square" lIns="0" rIns="0" tIns="0" bIns="0">
            <a:spAutoFit/>
          </a:bodyPr>
          <a:lstStyle/>
          <a:p>
            <a:pPr algn="l">
              <a:lnSpc>
                <a:spcPct val="115000"/>
              </a:lnSpc>
            </a:pPr>
            <a:r>
              <a:rPr sz="1650" b="1">
                <a:solidFill>
                  <a:srgbClr val="A83B3B"/>
                </a:solidFill>
                <a:latin typeface="Arial"/>
              </a:rPr>
              <a:t>Le recadrage annule le canal</a:t>
            </a:r>
          </a:p>
          <a:p>
            <a:pPr algn="l">
              <a:lnSpc>
                <a:spcPct val="125000"/>
              </a:lnSpc>
              <a:spcBef>
                <a:spcPts val="400"/>
              </a:spcBef>
            </a:pPr>
            <a:r>
              <a:rPr sz="1450" b="0">
                <a:solidFill>
                  <a:srgbClr val="1E2838"/>
                </a:solidFill>
                <a:latin typeface="Arial"/>
              </a:rPr>
              <a:t>0 % de verdicts sur les trois voies d'inscription. Ω est un message global de 64 bits, non un motif repete localement. La limite est structurelle, pas un defaut d'entrainement.</a:t>
            </a:r>
          </a:p>
        </p:txBody>
      </p:sp>
      <p:sp>
        <p:nvSpPr>
          <p:cNvPr id="8" name="Rectangle 7"/>
          <p:cNvSpPr/>
          <p:nvPr/>
        </p:nvSpPr>
        <p:spPr>
          <a:xfrm>
            <a:off x="685800" y="3291840"/>
            <a:ext cx="10789920" cy="128016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291840"/>
            <a:ext cx="82296" cy="1280160"/>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38144"/>
            <a:ext cx="10149840" cy="1005840"/>
          </a:xfrm>
          <a:prstGeom prst="rect">
            <a:avLst/>
          </a:prstGeom>
          <a:noFill/>
        </p:spPr>
        <p:txBody>
          <a:bodyPr wrap="square" lIns="0" rIns="0" tIns="0" bIns="0">
            <a:spAutoFit/>
          </a:bodyPr>
          <a:lstStyle/>
          <a:p>
            <a:pPr algn="l">
              <a:lnSpc>
                <a:spcPct val="115000"/>
              </a:lnSpc>
            </a:pPr>
            <a:r>
              <a:rPr sz="1650" b="1">
                <a:solidFill>
                  <a:srgbClr val="C46A2E"/>
                </a:solidFill>
                <a:latin typeface="Arial"/>
              </a:rPr>
              <a:t>La liaison au contenu est plus fragile que le temoin</a:t>
            </a:r>
          </a:p>
          <a:p>
            <a:pPr algn="l">
              <a:lnSpc>
                <a:spcPct val="125000"/>
              </a:lnSpc>
              <a:spcBef>
                <a:spcPts val="400"/>
              </a:spcBef>
            </a:pPr>
            <a:r>
              <a:rPr sz="1450" b="0">
                <a:solidFill>
                  <a:srgbClr val="1E2838"/>
                </a:solidFill>
                <a:latin typeface="Arial"/>
              </a:rPr>
              <a:t>Sous JPEG Q=30, 6 % des empreintes survivent quand 96 % des verdicts tiennent. Une verification exigeant EN PLUS l'empreinte serait bien moins robuste.</a:t>
            </a:r>
          </a:p>
        </p:txBody>
      </p:sp>
      <p:sp>
        <p:nvSpPr>
          <p:cNvPr id="11" name="Rectangle 10"/>
          <p:cNvSpPr/>
          <p:nvPr/>
        </p:nvSpPr>
        <p:spPr>
          <a:xfrm>
            <a:off x="685800" y="4754880"/>
            <a:ext cx="10789920" cy="1280160"/>
          </a:xfrm>
          <a:prstGeom prst="rect">
            <a:avLst/>
          </a:prstGeom>
          <a:solidFill>
            <a:srgbClr val="FFFFFF"/>
          </a:solidFill>
          <a:ln>
            <a:solidFill>
              <a:srgbClr val="E0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4754880"/>
            <a:ext cx="82296" cy="1280160"/>
          </a:xfrm>
          <a:prstGeom prst="rect">
            <a:avLst/>
          </a:prstGeom>
          <a:solidFill>
            <a:srgbClr val="2E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01184"/>
            <a:ext cx="10149840" cy="1005840"/>
          </a:xfrm>
          <a:prstGeom prst="rect">
            <a:avLst/>
          </a:prstGeom>
          <a:noFill/>
        </p:spPr>
        <p:txBody>
          <a:bodyPr wrap="square" lIns="0" rIns="0" tIns="0" bIns="0">
            <a:spAutoFit/>
          </a:bodyPr>
          <a:lstStyle/>
          <a:p>
            <a:pPr algn="l">
              <a:lnSpc>
                <a:spcPct val="115000"/>
              </a:lnSpc>
            </a:pPr>
            <a:r>
              <a:rPr sz="1650" b="1">
                <a:solidFill>
                  <a:srgbClr val="2E6F8E"/>
                </a:solidFill>
                <a:latin typeface="Arial"/>
              </a:rPr>
              <a:t>Le couple entierement latent n'a pas abouti</a:t>
            </a:r>
          </a:p>
          <a:p>
            <a:pPr algn="l">
              <a:lnSpc>
                <a:spcPct val="125000"/>
              </a:lnSpc>
              <a:spcBef>
                <a:spcPts val="400"/>
              </a:spcBef>
            </a:pPr>
            <a:r>
              <a:rPr sz="1450" b="0">
                <a:solidFill>
                  <a:srgbClr val="1E2838"/>
                </a:solidFill>
                <a:latin typeface="Arial"/>
              </a:rPr>
              <a:t>Seul volet du programme reste inacheve. Obstacle diagnostique, correctif mesure, convergence non atteinte.</a:t>
            </a:r>
          </a:p>
        </p:txBody>
      </p:sp>
      <p:sp>
        <p:nvSpPr>
          <p:cNvPr id="14" name="TextBox 13"/>
          <p:cNvSpPr txBox="1"/>
          <p:nvPr/>
        </p:nvSpPr>
        <p:spPr>
          <a:xfrm>
            <a:off x="685800" y="6172200"/>
            <a:ext cx="10881360" cy="502920"/>
          </a:xfrm>
          <a:prstGeom prst="rect">
            <a:avLst/>
          </a:prstGeom>
          <a:noFill/>
        </p:spPr>
        <p:txBody>
          <a:bodyPr wrap="square" lIns="0" rIns="0" tIns="0" bIns="0">
            <a:spAutoFit/>
          </a:bodyPr>
          <a:lstStyle/>
          <a:p>
            <a:pPr algn="l">
              <a:lnSpc>
                <a:spcPct val="115000"/>
              </a:lnSpc>
            </a:pPr>
            <a:r>
              <a:rPr sz="1250" b="0">
                <a:solidFill>
                  <a:srgbClr val="6B7482"/>
                </a:solidFill>
                <a:latin typeface="Arial"/>
              </a:rPr>
              <a:t>Sous transformation passive, le systeme ne produit que des faux negatifs, jamais de fausses accusations : le profil recherche en forensique.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PERSPECTIVES</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Ce qui prolonge ce travail</a:t>
            </a:r>
          </a:p>
        </p:txBody>
      </p:sp>
      <p:sp>
        <p:nvSpPr>
          <p:cNvPr id="5" name="TextBox 4"/>
          <p:cNvSpPr txBox="1"/>
          <p:nvPr/>
        </p:nvSpPr>
        <p:spPr>
          <a:xfrm>
            <a:off x="685800" y="1874519"/>
            <a:ext cx="10789920" cy="4572000"/>
          </a:xfrm>
          <a:prstGeom prst="rect">
            <a:avLst/>
          </a:prstGeom>
          <a:noFill/>
        </p:spPr>
        <p:txBody>
          <a:bodyPr wrap="square" lIns="0" rIns="0" tIns="0" bIns="0">
            <a:spAutoFit/>
          </a:bodyPr>
          <a:lstStyle/>
          <a:p>
            <a:pPr>
              <a:lnSpc>
                <a:spcPct val="125000"/>
              </a:lnSpc>
            </a:pPr>
            <a:r>
              <a:rPr sz="1600">
                <a:solidFill>
                  <a:srgbClr val="C46A2E"/>
                </a:solidFill>
                <a:latin typeface="Arial"/>
              </a:rPr>
              <a:t>▸  </a:t>
            </a:r>
            <a:r>
              <a:rPr sz="1600" b="1">
                <a:solidFill>
                  <a:srgbClr val="1E2838"/>
                </a:solidFill>
                <a:latin typeface="Arial"/>
              </a:rPr>
              <a:t>Achever le couple latent.</a:t>
            </a:r>
            <a:r>
              <a:rPr sz="1600">
                <a:solidFill>
                  <a:srgbClr val="1E2838"/>
                </a:solidFill>
                <a:latin typeface="Arial"/>
              </a:rPr>
              <a:t> L'obstacle est diagnostique : la recette de DistSeal, dont le poids de fidelite est nul, produit un modele qui lit bien en detruisant l'image. Retablir ce poids inverse la tendance des les premieres epoques.</a:t>
            </a:r>
          </a:p>
          <a:p>
            <a:pPr>
              <a:lnSpc>
                <a:spcPct val="125000"/>
              </a:lnSpc>
              <a:spcBef>
                <a:spcPts val="1600"/>
              </a:spcBef>
            </a:pPr>
            <a:r>
              <a:rPr sz="1600">
                <a:solidFill>
                  <a:srgbClr val="C46A2E"/>
                </a:solidFill>
                <a:latin typeface="Arial"/>
              </a:rPr>
              <a:t>▸  </a:t>
            </a:r>
            <a:r>
              <a:rPr sz="1600" b="1">
                <a:solidFill>
                  <a:srgbClr val="1E2838"/>
                </a:solidFill>
                <a:latin typeface="Arial"/>
              </a:rPr>
              <a:t>Un hachage invariant a la geometrie</a:t>
            </a:r>
            <a:r>
              <a:rPr sz="1600">
                <a:solidFill>
                  <a:srgbClr val="1E2838"/>
                </a:solidFill>
                <a:latin typeface="Arial"/>
              </a:rPr>
              <a:t> mais discriminant entre contenus : c'est a soi seul un sujet de these, et la reponse a la falaise du recadrage.</a:t>
            </a:r>
          </a:p>
          <a:p>
            <a:pPr>
              <a:lnSpc>
                <a:spcPct val="125000"/>
              </a:lnSpc>
              <a:spcBef>
                <a:spcPts val="1600"/>
              </a:spcBef>
            </a:pPr>
            <a:r>
              <a:rPr sz="1600">
                <a:solidFill>
                  <a:srgbClr val="C46A2E"/>
                </a:solidFill>
                <a:latin typeface="Arial"/>
              </a:rPr>
              <a:t>▸  </a:t>
            </a:r>
            <a:r>
              <a:rPr sz="1600" b="1">
                <a:solidFill>
                  <a:srgbClr val="1E2838"/>
                </a:solidFill>
                <a:latin typeface="Arial"/>
              </a:rPr>
              <a:t>Consolider le seuil de comparaison,</a:t>
            </a:r>
            <a:r>
              <a:rPr sz="1600">
                <a:solidFill>
                  <a:srgbClr val="1E2838"/>
                </a:solidFill>
                <a:latin typeface="Arial"/>
              </a:rPr>
              <a:t> aujourd'hui calibre sur un perimetre restreint et adosse a une binarisation instable sous compression.</a:t>
            </a:r>
          </a:p>
          <a:p>
            <a:pPr>
              <a:lnSpc>
                <a:spcPct val="125000"/>
              </a:lnSpc>
              <a:spcBef>
                <a:spcPts val="1600"/>
              </a:spcBef>
            </a:pPr>
            <a:r>
              <a:rPr sz="1600">
                <a:solidFill>
                  <a:srgbClr val="C46A2E"/>
                </a:solidFill>
                <a:latin typeface="Arial"/>
              </a:rPr>
              <a:t>▸  </a:t>
            </a:r>
            <a:r>
              <a:rPr sz="1600" b="1">
                <a:solidFill>
                  <a:srgbClr val="1E2838"/>
                </a:solidFill>
                <a:latin typeface="Arial"/>
              </a:rPr>
              <a:t>Une application industrielle.</a:t>
            </a:r>
            <a:r>
              <a:rPr sz="1600">
                <a:solidFill>
                  <a:srgbClr val="1E2838"/>
                </a:solidFill>
                <a:latin typeface="Arial"/>
              </a:rPr>
              <a:t> L'AI Act cree une demande pour des systemes prouvant l'origine sans fausse accusation : c'est exactement le profil d'erreurs de CipherMark.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Rectangle 1"/>
          <p:cNvSpPr/>
          <p:nvPr/>
        </p:nvSpPr>
        <p:spPr>
          <a:xfrm>
            <a:off x="0" y="0"/>
            <a:ext cx="12191695" cy="1481328"/>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
            <a:ext cx="10515600" cy="274320"/>
          </a:xfrm>
          <a:prstGeom prst="rect">
            <a:avLst/>
          </a:prstGeom>
          <a:noFill/>
        </p:spPr>
        <p:txBody>
          <a:bodyPr wrap="square" lIns="0" rIns="0" tIns="0" bIns="0">
            <a:spAutoFit/>
          </a:bodyPr>
          <a:lstStyle/>
          <a:p>
            <a:pPr algn="l">
              <a:lnSpc>
                <a:spcPct val="115000"/>
              </a:lnSpc>
            </a:pPr>
            <a:r>
              <a:rPr sz="1050" b="1">
                <a:solidFill>
                  <a:srgbClr val="C9A27A"/>
                </a:solidFill>
                <a:latin typeface="Arial"/>
              </a:rPr>
              <a:t>CONCLUSION</a:t>
            </a:r>
          </a:p>
        </p:txBody>
      </p:sp>
      <p:sp>
        <p:nvSpPr>
          <p:cNvPr id="4" name="TextBox 3"/>
          <p:cNvSpPr txBox="1"/>
          <p:nvPr/>
        </p:nvSpPr>
        <p:spPr>
          <a:xfrm>
            <a:off x="685800" y="512064"/>
            <a:ext cx="10881360" cy="868680"/>
          </a:xfrm>
          <a:prstGeom prst="rect">
            <a:avLst/>
          </a:prstGeom>
          <a:noFill/>
        </p:spPr>
        <p:txBody>
          <a:bodyPr wrap="square" lIns="0" rIns="0" tIns="0" bIns="0">
            <a:spAutoFit/>
          </a:bodyPr>
          <a:lstStyle/>
          <a:p>
            <a:pPr algn="l">
              <a:lnSpc>
                <a:spcPct val="112000"/>
              </a:lnSpc>
            </a:pPr>
            <a:r>
              <a:rPr sz="2200" b="1">
                <a:solidFill>
                  <a:srgbClr val="F7F6F2"/>
                </a:solidFill>
                <a:latin typeface="Arial"/>
              </a:rPr>
              <a:t>Trois contributions, et une reponse</a:t>
            </a:r>
          </a:p>
        </p:txBody>
      </p:sp>
      <p:sp>
        <p:nvSpPr>
          <p:cNvPr id="5" name="Rectangle 4"/>
          <p:cNvSpPr/>
          <p:nvPr/>
        </p:nvSpPr>
        <p:spPr>
          <a:xfrm>
            <a:off x="685800" y="1783080"/>
            <a:ext cx="82296" cy="1051560"/>
          </a:xfrm>
          <a:prstGeom prst="rect">
            <a:avLst/>
          </a:prstGeom>
          <a:solidFill>
            <a:srgbClr val="2E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28800"/>
            <a:ext cx="2743200" cy="457200"/>
          </a:xfrm>
          <a:prstGeom prst="rect">
            <a:avLst/>
          </a:prstGeom>
          <a:noFill/>
        </p:spPr>
        <p:txBody>
          <a:bodyPr wrap="square" lIns="0" rIns="0" tIns="0" bIns="0">
            <a:spAutoFit/>
          </a:bodyPr>
          <a:lstStyle/>
          <a:p>
            <a:pPr algn="l">
              <a:lnSpc>
                <a:spcPct val="115000"/>
              </a:lnSpc>
            </a:pPr>
            <a:r>
              <a:rPr sz="1500" b="1">
                <a:solidFill>
                  <a:srgbClr val="2E6F8E"/>
                </a:solidFill>
                <a:latin typeface="Arial"/>
              </a:rPr>
              <a:t>CONCEPTUELLE</a:t>
            </a:r>
          </a:p>
        </p:txBody>
      </p:sp>
      <p:sp>
        <p:nvSpPr>
          <p:cNvPr id="7" name="TextBox 6"/>
          <p:cNvSpPr txBox="1"/>
          <p:nvPr/>
        </p:nvSpPr>
        <p:spPr>
          <a:xfrm>
            <a:off x="3657600" y="1801368"/>
            <a:ext cx="7772400" cy="1005840"/>
          </a:xfrm>
          <a:prstGeom prst="rect">
            <a:avLst/>
          </a:prstGeom>
          <a:noFill/>
        </p:spPr>
        <p:txBody>
          <a:bodyPr wrap="square" lIns="0" rIns="0" tIns="0" bIns="0">
            <a:spAutoFit/>
          </a:bodyPr>
          <a:lstStyle/>
          <a:p>
            <a:pPr algn="l">
              <a:lnSpc>
                <a:spcPct val="125000"/>
              </a:lnSpc>
            </a:pPr>
            <a:r>
              <a:rPr sz="1500" b="0">
                <a:solidFill>
                  <a:srgbClr val="1E2838"/>
                </a:solidFill>
                <a:latin typeface="Arial"/>
              </a:rPr>
              <a:t>Le champ temoin Ω comble un vide reel : unique par generation,
lie au contenu, illisible sans les cles.</a:t>
            </a:r>
          </a:p>
        </p:txBody>
      </p:sp>
      <p:sp>
        <p:nvSpPr>
          <p:cNvPr id="8" name="Rectangle 7"/>
          <p:cNvSpPr/>
          <p:nvPr/>
        </p:nvSpPr>
        <p:spPr>
          <a:xfrm>
            <a:off x="685800" y="2999232"/>
            <a:ext cx="82296" cy="1051560"/>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044952"/>
            <a:ext cx="2743200" cy="457200"/>
          </a:xfrm>
          <a:prstGeom prst="rect">
            <a:avLst/>
          </a:prstGeom>
          <a:noFill/>
        </p:spPr>
        <p:txBody>
          <a:bodyPr wrap="square" lIns="0" rIns="0" tIns="0" bIns="0">
            <a:spAutoFit/>
          </a:bodyPr>
          <a:lstStyle/>
          <a:p>
            <a:pPr algn="l">
              <a:lnSpc>
                <a:spcPct val="115000"/>
              </a:lnSpc>
            </a:pPr>
            <a:r>
              <a:rPr sz="1500" b="1">
                <a:solidFill>
                  <a:srgbClr val="C46A2E"/>
                </a:solidFill>
                <a:latin typeface="Arial"/>
              </a:rPr>
              <a:t>EXPERIMENTALE</a:t>
            </a:r>
          </a:p>
        </p:txBody>
      </p:sp>
      <p:sp>
        <p:nvSpPr>
          <p:cNvPr id="10" name="TextBox 9"/>
          <p:cNvSpPr txBox="1"/>
          <p:nvPr/>
        </p:nvSpPr>
        <p:spPr>
          <a:xfrm>
            <a:off x="3657600" y="3017520"/>
            <a:ext cx="7772400" cy="1005840"/>
          </a:xfrm>
          <a:prstGeom prst="rect">
            <a:avLst/>
          </a:prstGeom>
          <a:noFill/>
        </p:spPr>
        <p:txBody>
          <a:bodyPr wrap="square" lIns="0" rIns="0" tIns="0" bIns="0">
            <a:spAutoFit/>
          </a:bodyPr>
          <a:lstStyle/>
          <a:p>
            <a:pPr algn="l">
              <a:lnSpc>
                <a:spcPct val="125000"/>
              </a:lnSpc>
            </a:pPr>
            <a:r>
              <a:rPr sz="1500" b="0">
                <a:solidFill>
                  <a:srgbClr val="1E2838"/>
                </a:solidFill>
                <a:latin typeface="Arial"/>
              </a:rPr>
              <a:t>La chaine fonctionne de bout en bout, et l'inscription par
modulation des poids surpasse le tatouage post-hoc.</a:t>
            </a:r>
          </a:p>
        </p:txBody>
      </p:sp>
      <p:sp>
        <p:nvSpPr>
          <p:cNvPr id="11" name="Rectangle 10"/>
          <p:cNvSpPr/>
          <p:nvPr/>
        </p:nvSpPr>
        <p:spPr>
          <a:xfrm>
            <a:off x="685800" y="4215384"/>
            <a:ext cx="82296" cy="1051560"/>
          </a:xfrm>
          <a:prstGeom prst="rect">
            <a:avLst/>
          </a:prstGeom>
          <a:solidFill>
            <a:srgbClr val="3F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261104"/>
            <a:ext cx="2743200" cy="457200"/>
          </a:xfrm>
          <a:prstGeom prst="rect">
            <a:avLst/>
          </a:prstGeom>
          <a:noFill/>
        </p:spPr>
        <p:txBody>
          <a:bodyPr wrap="square" lIns="0" rIns="0" tIns="0" bIns="0">
            <a:spAutoFit/>
          </a:bodyPr>
          <a:lstStyle/>
          <a:p>
            <a:pPr algn="l">
              <a:lnSpc>
                <a:spcPct val="115000"/>
              </a:lnSpc>
            </a:pPr>
            <a:r>
              <a:rPr sz="1500" b="1">
                <a:solidFill>
                  <a:srgbClr val="3F7A54"/>
                </a:solidFill>
                <a:latin typeface="Arial"/>
              </a:rPr>
              <a:t>ANALYTIQUE</a:t>
            </a:r>
          </a:p>
        </p:txBody>
      </p:sp>
      <p:sp>
        <p:nvSpPr>
          <p:cNvPr id="13" name="TextBox 12"/>
          <p:cNvSpPr txBox="1"/>
          <p:nvPr/>
        </p:nvSpPr>
        <p:spPr>
          <a:xfrm>
            <a:off x="3657600" y="4233672"/>
            <a:ext cx="7772400" cy="1005840"/>
          </a:xfrm>
          <a:prstGeom prst="rect">
            <a:avLst/>
          </a:prstGeom>
          <a:noFill/>
        </p:spPr>
        <p:txBody>
          <a:bodyPr wrap="square" lIns="0" rIns="0" tIns="0" bIns="0">
            <a:spAutoFit/>
          </a:bodyPr>
          <a:lstStyle/>
          <a:p>
            <a:pPr algn="l">
              <a:lnSpc>
                <a:spcPct val="125000"/>
              </a:lnSpc>
            </a:pPr>
            <a:r>
              <a:rPr sz="1500" b="0">
                <a:solidFill>
                  <a:srgbClr val="1E2838"/>
                </a:solidFill>
                <a:latin typeface="Arial"/>
              </a:rPr>
              <a:t>Un mur de capacite apparent s'est revele un point stationnaire
exact ; deux hyperparametres ont porte la precision a 0,9998.</a:t>
            </a:r>
          </a:p>
        </p:txBody>
      </p:sp>
      <p:sp>
        <p:nvSpPr>
          <p:cNvPr id="14" name="Rectangle 13"/>
          <p:cNvSpPr/>
          <p:nvPr/>
        </p:nvSpPr>
        <p:spPr>
          <a:xfrm>
            <a:off x="685800" y="5440680"/>
            <a:ext cx="10789920" cy="960120"/>
          </a:xfrm>
          <a:prstGeom prst="rect">
            <a:avLst/>
          </a:prstGeom>
          <a:solidFill>
            <a:srgbClr val="14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650992"/>
            <a:ext cx="10058400" cy="640080"/>
          </a:xfrm>
          <a:prstGeom prst="rect">
            <a:avLst/>
          </a:prstGeom>
          <a:noFill/>
        </p:spPr>
        <p:txBody>
          <a:bodyPr wrap="square" lIns="0" rIns="0" tIns="0" bIns="0">
            <a:spAutoFit/>
          </a:bodyPr>
          <a:lstStyle/>
          <a:p>
            <a:pPr algn="ctr">
              <a:lnSpc>
                <a:spcPct val="115000"/>
              </a:lnSpc>
            </a:pPr>
            <a:r>
              <a:rPr sz="1750" b="1">
                <a:solidFill>
                  <a:srgbClr val="F7F6F2"/>
                </a:solidFill>
                <a:latin typeface="Arial"/>
              </a:rPr>
              <a:t>Le tatouage generatif peut devenir une preuve cryptographique, individuelle et liee au contenu, aux limites connues.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F33"/>
        </a:solidFill>
        <a:effectLst/>
      </p:bgPr>
    </p:bg>
    <p:spTree>
      <p:nvGrpSpPr>
        <p:cNvPr id="1" name=""/>
        <p:cNvGrpSpPr/>
        <p:nvPr/>
      </p:nvGrpSpPr>
      <p:grpSpPr/>
      <p:sp>
        <p:nvSpPr>
          <p:cNvPr id="2" name="TextBox 1"/>
          <p:cNvSpPr txBox="1"/>
          <p:nvPr/>
        </p:nvSpPr>
        <p:spPr>
          <a:xfrm>
            <a:off x="1280160" y="2468880"/>
            <a:ext cx="9601200" cy="1097280"/>
          </a:xfrm>
          <a:prstGeom prst="rect">
            <a:avLst/>
          </a:prstGeom>
          <a:noFill/>
        </p:spPr>
        <p:txBody>
          <a:bodyPr wrap="square" lIns="0" rIns="0" tIns="0" bIns="0">
            <a:spAutoFit/>
          </a:bodyPr>
          <a:lstStyle/>
          <a:p>
            <a:pPr algn="l">
              <a:lnSpc>
                <a:spcPct val="115000"/>
              </a:lnSpc>
            </a:pPr>
            <a:r>
              <a:rPr sz="4000" b="1">
                <a:solidFill>
                  <a:srgbClr val="F7F6F2"/>
                </a:solidFill>
                <a:latin typeface="Arial"/>
              </a:rPr>
              <a:t>Merci de votre attention</a:t>
            </a:r>
          </a:p>
        </p:txBody>
      </p:sp>
      <p:sp>
        <p:nvSpPr>
          <p:cNvPr id="3" name="Rectangle 2"/>
          <p:cNvSpPr/>
          <p:nvPr/>
        </p:nvSpPr>
        <p:spPr>
          <a:xfrm>
            <a:off x="1280160" y="3703320"/>
            <a:ext cx="1463040" cy="45720"/>
          </a:xfrm>
          <a:prstGeom prst="rect">
            <a:avLst/>
          </a:prstGeom>
          <a:solidFill>
            <a:srgbClr val="C4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4023360"/>
            <a:ext cx="9601200" cy="1280160"/>
          </a:xfrm>
          <a:prstGeom prst="rect">
            <a:avLst/>
          </a:prstGeom>
          <a:noFill/>
        </p:spPr>
        <p:txBody>
          <a:bodyPr wrap="square" lIns="0" rIns="0" tIns="0" bIns="0">
            <a:spAutoFit/>
          </a:bodyPr>
          <a:lstStyle/>
          <a:p>
            <a:pPr algn="l">
              <a:lnSpc>
                <a:spcPct val="115000"/>
              </a:lnSpc>
            </a:pPr>
            <a:r>
              <a:rPr sz="1900" b="1">
                <a:solidFill>
                  <a:srgbClr val="F7F6F2"/>
                </a:solidFill>
                <a:latin typeface="Arial"/>
              </a:rPr>
              <a:t>NGUEAGHO TIODONG ROBERTO LANDRY</a:t>
            </a:r>
          </a:p>
          <a:p>
            <a:pPr algn="l">
              <a:lnSpc>
                <a:spcPct val="115000"/>
              </a:lnSpc>
              <a:spcBef>
                <a:spcPts val="600"/>
              </a:spcBef>
            </a:pPr>
            <a:r>
              <a:rPr sz="1400" b="0">
                <a:solidFill>
                  <a:srgbClr val="9AA4B0"/>
                </a:solidFill>
                <a:latin typeface="Arial"/>
              </a:rPr>
              <a:t>Universite de Yaounde I  ·  Faculte des Sciences</a:t>
            </a:r>
          </a:p>
          <a:p>
            <a:pPr algn="l">
              <a:lnSpc>
                <a:spcPct val="115000"/>
              </a:lnSpc>
              <a:spcBef>
                <a:spcPts val="400"/>
              </a:spcBef>
            </a:pPr>
            <a:r>
              <a:rPr sz="1400" b="0">
                <a:solidFill>
                  <a:srgbClr val="9AA4B0"/>
                </a:solidFill>
                <a:latin typeface="Arial"/>
              </a:rPr>
              <a:t>Code et resultats : github.com/ngueagho/distseal-meta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